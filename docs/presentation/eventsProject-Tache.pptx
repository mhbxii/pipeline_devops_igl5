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9E8F67-594C-410A-8D75-F3C7CF2974B1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FB0CA4-F3F5-4448-B780-C0E244D43A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85590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FB0CA4-F3F5-4448-B780-C0E244D43AE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3093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FB0CA4-F3F5-4448-B780-C0E244D43AE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7443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FB0CA4-F3F5-4448-B780-C0E244D43AE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3412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FB0CA4-F3F5-4448-B780-C0E244D43AE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8284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FB0CA4-F3F5-4448-B780-C0E244D43AE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4316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FB0CA4-F3F5-4448-B780-C0E244D43AE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3314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FB0CA4-F3F5-4448-B780-C0E244D43AE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5804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FB0CA4-F3F5-4448-B780-C0E244D43AE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74162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FB0CA4-F3F5-4448-B780-C0E244D43AE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6460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FB0CA4-F3F5-4448-B780-C0E244D43AE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0974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FB0CA4-F3F5-4448-B780-C0E244D43AE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1033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FB0CA4-F3F5-4448-B780-C0E244D43AE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35551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FB0CA4-F3F5-4448-B780-C0E244D43AE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75121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FB0CA4-F3F5-4448-B780-C0E244D43AE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5427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FB0CA4-F3F5-4448-B780-C0E244D43AE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5886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FB0CA4-F3F5-4448-B780-C0E244D43AE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0443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FB0CA4-F3F5-4448-B780-C0E244D43AE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94943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FB0CA4-F3F5-4448-B780-C0E244D43AE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6918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6FB0CA4-F3F5-4448-B780-C0E244D43AE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5505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E9DAE-BDE8-4290-836F-6F9C5B1661FB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21DF6-8644-4A2E-9DB5-7834D6773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5450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E9DAE-BDE8-4290-836F-6F9C5B1661FB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21DF6-8644-4A2E-9DB5-7834D6773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184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E9DAE-BDE8-4290-836F-6F9C5B1661FB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21DF6-8644-4A2E-9DB5-7834D6773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4610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E9DAE-BDE8-4290-836F-6F9C5B1661FB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21DF6-8644-4A2E-9DB5-7834D6773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0256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E9DAE-BDE8-4290-836F-6F9C5B1661FB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21DF6-8644-4A2E-9DB5-7834D6773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4903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E9DAE-BDE8-4290-836F-6F9C5B1661FB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21DF6-8644-4A2E-9DB5-7834D6773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4794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E9DAE-BDE8-4290-836F-6F9C5B1661FB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21DF6-8644-4A2E-9DB5-7834D6773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719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E9DAE-BDE8-4290-836F-6F9C5B1661FB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21DF6-8644-4A2E-9DB5-7834D6773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3735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E9DAE-BDE8-4290-836F-6F9C5B1661FB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21DF6-8644-4A2E-9DB5-7834D6773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7447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E9DAE-BDE8-4290-836F-6F9C5B1661FB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21DF6-8644-4A2E-9DB5-7834D6773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8240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E9DAE-BDE8-4290-836F-6F9C5B1661FB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A21DF6-8644-4A2E-9DB5-7834D6773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701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AE9DAE-BDE8-4290-836F-6F9C5B1661FB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A21DF6-8644-4A2E-9DB5-7834D6773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5163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Contribution Tache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eventsProject : gestion des rôles des participants. Diagnostic, tests et déploiement progressifs.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71500" y="2540000"/>
            <a:ext cx="10795000" cy="126188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3800" smtClean="0">
                <a:solidFill>
                  <a:srgbClr val="FFFFFF"/>
                </a:solidFill>
                <a:latin typeface="Segoe UI" panose="020B0502040204020203" pitchFamily="34" charset="0"/>
              </a:rPr>
              <a:t>eventsProject
Branche Tache</a:t>
            </a:r>
            <a:endParaRPr lang="en-US" sz="3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71500" y="4635500"/>
            <a:ext cx="10795000" cy="46166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400" smtClean="0">
                <a:solidFill>
                  <a:srgbClr val="5EEAD4"/>
                </a:solidFill>
                <a:latin typeface="Segoe UI" panose="020B0502040204020203" pitchFamily="34" charset="0"/>
              </a:rPr>
              <a:t>Application, tests, preuves et automatisation</a:t>
            </a:r>
            <a:endParaRPr lang="en-US" sz="24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7266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Un périmètre respecté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Tache est un enum persisté en chaîne dans Participant ; le modèle partagé est conservé.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01-project-setup/setup-02-tache-model.png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2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0592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Une branche dédiée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Branche locale Tache et commits vérifiés ; synchronisation distante encore à réaliser.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05-git/git-01-branch-history.png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3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49059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Maven et Java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Maven 3.9.14 sélectionné pour la session ; cible Java 8 et runtime Docker Java 17.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02-maven/maven-01-toolchain.png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4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00675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La compilation initiale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Journal sauvegardé : BUILD SUCCESS pour les 12 sources du dépôt initial.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02-maven/maven-02-baseline-build.png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5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91893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Le blocage initial : MySQL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Journal du diagnostic initial : authentification root refusée et HTTP 500.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01-project-setup/setup-03-database-blocker.png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6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07102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MySQL : correction vérifiée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Base dédiée sur 3307 : création, affectation, lecture et retrait du rôle réussis.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01-project-setup/mysql-api-success.png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7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77174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800" smtClean="0">
                <a:solidFill>
                  <a:srgbClr val="FFFFFF"/>
                </a:solidFill>
                <a:latin typeface="Segoe UI" panose="020B0502040204020203" pitchFamily="34" charset="0"/>
              </a:rPr>
              <a:t>Des tests à trois niveaux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20 tests réussis : Mockito, contrat HTTP et intégration JPA/H2 sans mocks.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04-unit-tests/tests-success.png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8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66535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Une couverture métier mesurée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TacheService : 24 lignes et 4 branches couvertes ; ce résultat concerne ce service.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04-unit-tests/coverage-service.png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9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40668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Des logs utiles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DEBUG, INFO, WARN sur API ; ERROR démontré par une panne simulée dans un test.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03-logging/tache-levels.png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10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38295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800" smtClean="0">
                <a:solidFill>
                  <a:srgbClr val="FFFFFF"/>
                </a:solidFill>
                <a:latin typeface="Segoe UI" panose="020B0502040204020203" pitchFamily="34" charset="0"/>
              </a:rPr>
              <a:t>Application et MySQL en conteneurs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Cycle HTTP vérifié dans Docker ; readiness UP et utilisateur applicatif non privilégié.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09-docker/docker-api-success.png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11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96250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Vérifier les conteneurs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Application et base isolées ; volumes persistants et ports liés à localhost.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09-docker/docker-containers.png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12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46952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Un déploiement Kubernetes réel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Pods applicatif et MySQL prêts, Services actifs et volume persistant lié.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10-kubernetes/kubernetes-resources.png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13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0714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Vérifier le service métier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Le cycle HTTP complet réussit via Kubernetes ; readiness inclut la base MySQL.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10-kubernetes/kubernetes-api-success.png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14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03179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Provisionner avec Terraform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Plan examiné et approuvé : 6 ressources Prometheus créées, aucune destruction.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11-terraform/terraform-apply.png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15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12547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Contrôler la convergence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Un nouveau plan ne détecte aucune différence entre configuration et infrastructure.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11-terraform/terraform-no-drift.png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16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16900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800" smtClean="0">
                <a:solidFill>
                  <a:srgbClr val="FFFFFF"/>
                </a:solidFill>
                <a:latin typeface="Segoe UI" panose="020B0502040204020203" pitchFamily="34" charset="0"/>
              </a:rPr>
              <a:t>Observer une application réellement collectée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Prometheus collecte la cible Kubernetes events : 1/1 UP, métriques exposées par Actuator.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981199"/>
            <a:ext cx="11430000" cy="3175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13-monitoring/prometheus-targets.png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17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19756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800" smtClean="0">
                <a:solidFill>
                  <a:srgbClr val="FFFFFF"/>
                </a:solidFill>
                <a:latin typeface="Segoe UI" panose="020B0502040204020203" pitchFamily="34" charset="0"/>
              </a:rPr>
              <a:t>Publier le livrable dans Nexus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Le dépôt Maven snapshots contient le JAR et le POM de tn.esprit:eventsProject:1.0.0-SNAPSHOT.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2985" y="1981200"/>
            <a:ext cx="9566031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07-nexus/nexus-repository.png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18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01731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1000" y="152400"/>
            <a:ext cx="10795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100" smtClean="0">
                <a:solidFill>
                  <a:srgbClr val="5EEAD4"/>
                </a:solidFill>
                <a:latin typeface="Segoe UI" panose="020B0502040204020203" pitchFamily="34" charset="0"/>
              </a:rPr>
              <a:t>EVENTSPROJECT / MODULE TACHE</a:t>
            </a:r>
            <a:endParaRPr lang="en-US" sz="11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81000" y="533400"/>
            <a:ext cx="11430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800" smtClean="0">
                <a:solidFill>
                  <a:srgbClr val="FFFFFF"/>
                </a:solidFill>
                <a:latin typeface="Segoe UI" panose="020B0502040204020203" pitchFamily="34" charset="0"/>
              </a:rPr>
              <a:t>Vérifier le livrable publié</a:t>
            </a:r>
            <a:endParaRPr lang="en-US" sz="280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1000" y="1244600"/>
            <a:ext cx="11430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 smtClean="0">
                <a:solidFill>
                  <a:srgbClr val="E1E1E1"/>
                </a:solidFill>
                <a:latin typeface="Segoe UI" panose="020B0502040204020203" pitchFamily="34" charset="0"/>
              </a:rPr>
              <a:t>Le JAR téléchargé depuis Nexus possède le même SHA-256 que le livrable local.</a:t>
            </a:r>
            <a:endParaRPr lang="en-US" sz="16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3054" y="1981200"/>
            <a:ext cx="8285892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1000" y="6400800"/>
            <a:ext cx="10795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 smtClean="0">
                <a:solidFill>
                  <a:srgbClr val="5EEAD4"/>
                </a:solidFill>
                <a:latin typeface="Segoe UI" panose="020B0502040204020203" pitchFamily="34" charset="0"/>
              </a:rPr>
              <a:t>Preuve : 07-nexus/nexus-verification.png</a:t>
            </a:r>
            <a:endParaRPr lang="en-US" sz="900">
              <a:solidFill>
                <a:srgbClr val="5EEAD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582400" y="6438900"/>
            <a:ext cx="381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000" smtClean="0">
                <a:solidFill>
                  <a:srgbClr val="E1E1E1"/>
                </a:solidFill>
                <a:latin typeface="Segoe UI" panose="020B0502040204020203" pitchFamily="34" charset="0"/>
              </a:rPr>
              <a:t>19</a:t>
            </a:r>
            <a:endParaRPr lang="en-US" sz="1000">
              <a:solidFill>
                <a:srgbClr val="E1E1E1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47386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516</Words>
  <Application>Microsoft Office PowerPoint</Application>
  <PresentationFormat>Custom</PresentationFormat>
  <Paragraphs>115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Calibri Light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Ayyoub</dc:creator>
  <cp:lastModifiedBy>Ayyoub</cp:lastModifiedBy>
  <cp:revision>1</cp:revision>
  <dcterms:created xsi:type="dcterms:W3CDTF">2026-10-29T09:10:12Z</dcterms:created>
  <dcterms:modified xsi:type="dcterms:W3CDTF">2026-10-29T09:10:12Z</dcterms:modified>
</cp:coreProperties>
</file>