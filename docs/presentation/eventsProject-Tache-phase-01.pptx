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F292F3-ED02-4EEE-B086-86F4F6F7ECA4}" type="datetimeFigureOut">
              <a:rPr lang="en-US" smtClean="0"/>
              <a:t>10/29/2026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5BC1F6D-F455-4D23-ABC5-6F0DD556C6CF}" type="slidenum">
              <a:rPr lang="en-US" smtClean="0"/>
              <a:t>‹#›</a:t>
            </a:fld>
            <a:endParaRPr lang="en-US"/>
          </a:p>
        </p:txBody>
      </p:sp>
    </p:spTree>
    <p:extLst>
      <p:ext uri="{BB962C8B-B14F-4D97-AF65-F5344CB8AC3E}">
        <p14:creationId xmlns:p14="http://schemas.microsoft.com/office/powerpoint/2010/main" val="29585045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mtClean="0"/>
              <a:t>Le dépôt réel est eventsProject. Tache est un enum, pas une entité de tâches. Cette présentation couvre uniquement le diagnostic déjà exécuté. Les opérations métier et la chaîne CI/CD restent à réaliser.</a:t>
            </a:r>
            <a:endParaRPr lang="en-US"/>
          </a:p>
        </p:txBody>
      </p:sp>
      <p:sp>
        <p:nvSpPr>
          <p:cNvPr id="4" name="Slide Number Placeholder 3"/>
          <p:cNvSpPr>
            <a:spLocks noGrp="1"/>
          </p:cNvSpPr>
          <p:nvPr>
            <p:ph type="sldNum" sz="quarter" idx="10"/>
          </p:nvPr>
        </p:nvSpPr>
        <p:spPr/>
        <p:txBody>
          <a:bodyPr/>
          <a:lstStyle/>
          <a:p>
            <a:fld id="{65BC1F6D-F455-4D23-ABC5-6F0DD556C6CF}" type="slidenum">
              <a:rPr lang="en-US" smtClean="0"/>
              <a:t>1</a:t>
            </a:fld>
            <a:endParaRPr lang="en-US"/>
          </a:p>
        </p:txBody>
      </p:sp>
    </p:spTree>
    <p:extLst>
      <p:ext uri="{BB962C8B-B14F-4D97-AF65-F5344CB8AC3E}">
        <p14:creationId xmlns:p14="http://schemas.microsoft.com/office/powerpoint/2010/main" val="28915624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mtClean="0"/>
              <a:t>Source actuelle affichée dans un visualiseur Windows puis capturée à l'écran. @Enumerated(EnumType.STRING) conserve le nom de la valeur dans la base. Renommer une valeur impose de considérer les données existantes. Aucune nouvelle logique métier n'a encore été ajoutée.</a:t>
            </a:r>
            <a:endParaRPr lang="en-US"/>
          </a:p>
        </p:txBody>
      </p:sp>
      <p:sp>
        <p:nvSpPr>
          <p:cNvPr id="4" name="Slide Number Placeholder 3"/>
          <p:cNvSpPr>
            <a:spLocks noGrp="1"/>
          </p:cNvSpPr>
          <p:nvPr>
            <p:ph type="sldNum" sz="quarter" idx="10"/>
          </p:nvPr>
        </p:nvSpPr>
        <p:spPr/>
        <p:txBody>
          <a:bodyPr/>
          <a:lstStyle/>
          <a:p>
            <a:fld id="{65BC1F6D-F455-4D23-ABC5-6F0DD556C6CF}" type="slidenum">
              <a:rPr lang="en-US" smtClean="0"/>
              <a:t>2</a:t>
            </a:fld>
            <a:endParaRPr lang="en-US"/>
          </a:p>
        </p:txBody>
      </p:sp>
    </p:spTree>
    <p:extLst>
      <p:ext uri="{BB962C8B-B14F-4D97-AF65-F5344CB8AC3E}">
        <p14:creationId xmlns:p14="http://schemas.microsoft.com/office/powerpoint/2010/main" val="13616086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mtClean="0"/>
              <a:t>Les commandes Git ont été exécutées lors de la capture. Le commit de diagnostic ajoute la documentation et les journaux. La branche distante Tache était absente lors de l'inspection initiale. Cela ne démontre pas encore un Git Flow complet.</a:t>
            </a:r>
            <a:endParaRPr lang="en-US"/>
          </a:p>
        </p:txBody>
      </p:sp>
      <p:sp>
        <p:nvSpPr>
          <p:cNvPr id="4" name="Slide Number Placeholder 3"/>
          <p:cNvSpPr>
            <a:spLocks noGrp="1"/>
          </p:cNvSpPr>
          <p:nvPr>
            <p:ph type="sldNum" sz="quarter" idx="10"/>
          </p:nvPr>
        </p:nvSpPr>
        <p:spPr/>
        <p:txBody>
          <a:bodyPr/>
          <a:lstStyle/>
          <a:p>
            <a:fld id="{65BC1F6D-F455-4D23-ABC5-6F0DD556C6CF}" type="slidenum">
              <a:rPr lang="en-US" smtClean="0"/>
              <a:t>3</a:t>
            </a:fld>
            <a:endParaRPr lang="en-US"/>
          </a:p>
        </p:txBody>
      </p:sp>
    </p:spTree>
    <p:extLst>
      <p:ext uri="{BB962C8B-B14F-4D97-AF65-F5344CB8AC3E}">
        <p14:creationId xmlns:p14="http://schemas.microsoft.com/office/powerpoint/2010/main" val="11817529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mtClean="0"/>
              <a:t>Commande exécutée au moment de la capture. Maven était déjà installé dans le cache mais absent du PATH. Le script modifie JAVA_HOME et PATH pour la session uniquement. Java 8 correspond à la cible du POM ; ce JDK ancien sert au diagnostic local.</a:t>
            </a:r>
            <a:endParaRPr lang="en-US"/>
          </a:p>
        </p:txBody>
      </p:sp>
      <p:sp>
        <p:nvSpPr>
          <p:cNvPr id="4" name="Slide Number Placeholder 3"/>
          <p:cNvSpPr>
            <a:spLocks noGrp="1"/>
          </p:cNvSpPr>
          <p:nvPr>
            <p:ph type="sldNum" sz="quarter" idx="10"/>
          </p:nvPr>
        </p:nvSpPr>
        <p:spPr/>
        <p:txBody>
          <a:bodyPr/>
          <a:lstStyle/>
          <a:p>
            <a:fld id="{65BC1F6D-F455-4D23-ABC5-6F0DD556C6CF}" type="slidenum">
              <a:rPr lang="en-US" smtClean="0"/>
              <a:t>4</a:t>
            </a:fld>
            <a:endParaRPr lang="en-US"/>
          </a:p>
        </p:txBody>
      </p:sp>
    </p:spTree>
    <p:extLst>
      <p:ext uri="{BB962C8B-B14F-4D97-AF65-F5344CB8AC3E}">
        <p14:creationId xmlns:p14="http://schemas.microsoft.com/office/powerpoint/2010/main" val="24052486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mtClean="0"/>
              <a:t>Capture de la lecture du journal sauvegardé de mvn -B compile. Ce n'est pas une nouvelle compilation au moment de la capture. BUILD SUCCESS prouve la compilation, pas les tests, la connexion JDBC ou le fonctionnement métier. Aucun test n'existait dans le dépôt initial.</a:t>
            </a:r>
            <a:endParaRPr lang="en-US"/>
          </a:p>
        </p:txBody>
      </p:sp>
      <p:sp>
        <p:nvSpPr>
          <p:cNvPr id="4" name="Slide Number Placeholder 3"/>
          <p:cNvSpPr>
            <a:spLocks noGrp="1"/>
          </p:cNvSpPr>
          <p:nvPr>
            <p:ph type="sldNum" sz="quarter" idx="10"/>
          </p:nvPr>
        </p:nvSpPr>
        <p:spPr/>
        <p:txBody>
          <a:bodyPr/>
          <a:lstStyle/>
          <a:p>
            <a:fld id="{65BC1F6D-F455-4D23-ABC5-6F0DD556C6CF}" type="slidenum">
              <a:rPr lang="en-US" smtClean="0"/>
              <a:t>5</a:t>
            </a:fld>
            <a:endParaRPr lang="en-US"/>
          </a:p>
        </p:txBody>
      </p:sp>
    </p:spTree>
    <p:extLst>
      <p:ext uri="{BB962C8B-B14F-4D97-AF65-F5344CB8AC3E}">
        <p14:creationId xmlns:p14="http://schemas.microsoft.com/office/powerpoint/2010/main" val="24505178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mtClean="0"/>
              <a:t>Capture de journaux sauvegardés pendant le diagnostic. Le démarrage utilisait ddl-auto=none et désactivait la création automatique de base. Le serveur existant refuse root sans mot de passe. Solution prévue : base dédiée et configuration par environnement, encore non appliquée.</a:t>
            </a:r>
            <a:endParaRPr lang="en-US"/>
          </a:p>
        </p:txBody>
      </p:sp>
      <p:sp>
        <p:nvSpPr>
          <p:cNvPr id="4" name="Slide Number Placeholder 3"/>
          <p:cNvSpPr>
            <a:spLocks noGrp="1"/>
          </p:cNvSpPr>
          <p:nvPr>
            <p:ph type="sldNum" sz="quarter" idx="10"/>
          </p:nvPr>
        </p:nvSpPr>
        <p:spPr/>
        <p:txBody>
          <a:bodyPr/>
          <a:lstStyle/>
          <a:p>
            <a:fld id="{65BC1F6D-F455-4D23-ABC5-6F0DD556C6CF}" type="slidenum">
              <a:rPr lang="en-US" smtClean="0"/>
              <a:t>6</a:t>
            </a:fld>
            <a:endParaRPr lang="en-US"/>
          </a:p>
        </p:txBody>
      </p:sp>
    </p:spTree>
    <p:extLst>
      <p:ext uri="{BB962C8B-B14F-4D97-AF65-F5344CB8AC3E}">
        <p14:creationId xmlns:p14="http://schemas.microsoft.com/office/powerpoint/2010/main" val="336723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mtClean="0"/>
              <a:t>Le fonctionnement métier reste bloqué. Priorité suivante : base MySQL dédiée, requête API réelle, puis service de rôles et tests. Jenkins, SonarQube, Nexus, Docker applicatif, Kubernetes, Terraform et monitoring ne sont pas encore démontrés. Terraform apply exige la revue du plan et l'accord utilisateur.</a:t>
            </a:r>
            <a:endParaRPr lang="en-US"/>
          </a:p>
        </p:txBody>
      </p:sp>
      <p:sp>
        <p:nvSpPr>
          <p:cNvPr id="4" name="Slide Number Placeholder 3"/>
          <p:cNvSpPr>
            <a:spLocks noGrp="1"/>
          </p:cNvSpPr>
          <p:nvPr>
            <p:ph type="sldNum" sz="quarter" idx="10"/>
          </p:nvPr>
        </p:nvSpPr>
        <p:spPr/>
        <p:txBody>
          <a:bodyPr/>
          <a:lstStyle/>
          <a:p>
            <a:fld id="{65BC1F6D-F455-4D23-ABC5-6F0DD556C6CF}" type="slidenum">
              <a:rPr lang="en-US" smtClean="0"/>
              <a:t>7</a:t>
            </a:fld>
            <a:endParaRPr lang="en-US"/>
          </a:p>
        </p:txBody>
      </p:sp>
    </p:spTree>
    <p:extLst>
      <p:ext uri="{BB962C8B-B14F-4D97-AF65-F5344CB8AC3E}">
        <p14:creationId xmlns:p14="http://schemas.microsoft.com/office/powerpoint/2010/main" val="1169901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D433DB6-1AED-4A33-8C9C-751A29CD9F6D}"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16695479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D433DB6-1AED-4A33-8C9C-751A29CD9F6D}"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140242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D433DB6-1AED-4A33-8C9C-751A29CD9F6D}"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6312844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6D433DB6-1AED-4A33-8C9C-751A29CD9F6D}"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21104359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6D433DB6-1AED-4A33-8C9C-751A29CD9F6D}" type="datetimeFigureOut">
              <a:rPr lang="en-US" smtClean="0"/>
              <a:t>10/29/2026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29843671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D433DB6-1AED-4A33-8C9C-751A29CD9F6D}" type="datetimeFigureOut">
              <a:rPr lang="en-US" smtClean="0"/>
              <a:t>10/29/2026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1000975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D433DB6-1AED-4A33-8C9C-751A29CD9F6D}" type="datetimeFigureOut">
              <a:rPr lang="en-US" smtClean="0"/>
              <a:t>10/29/2026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1607482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433DB6-1AED-4A33-8C9C-751A29CD9F6D}"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20982823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D433DB6-1AED-4A33-8C9C-751A29CD9F6D}"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10966118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D433DB6-1AED-4A33-8C9C-751A29CD9F6D}"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9216527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D433DB6-1AED-4A33-8C9C-751A29CD9F6D}"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EB76E00-5A08-439C-95EF-3524E9C729DA}" type="slidenum">
              <a:rPr lang="en-US" smtClean="0"/>
              <a:t>‹#›</a:t>
            </a:fld>
            <a:endParaRPr lang="en-US"/>
          </a:p>
        </p:txBody>
      </p:sp>
    </p:spTree>
    <p:extLst>
      <p:ext uri="{BB962C8B-B14F-4D97-AF65-F5344CB8AC3E}">
        <p14:creationId xmlns:p14="http://schemas.microsoft.com/office/powerpoint/2010/main" val="2260784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433DB6-1AED-4A33-8C9C-751A29CD9F6D}" type="datetimeFigureOut">
              <a:rPr lang="en-US" smtClean="0"/>
              <a:t>10/29/2026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EB76E00-5A08-439C-95EF-3524E9C729DA}" type="slidenum">
              <a:rPr lang="en-US" smtClean="0"/>
              <a:t>‹#›</a:t>
            </a:fld>
            <a:endParaRPr lang="en-US"/>
          </a:p>
        </p:txBody>
      </p:sp>
    </p:spTree>
    <p:extLst>
      <p:ext uri="{BB962C8B-B14F-4D97-AF65-F5344CB8AC3E}">
        <p14:creationId xmlns:p14="http://schemas.microsoft.com/office/powerpoint/2010/main" val="23451269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72A"/>
        </a:solidFill>
        <a:effectLst/>
      </p:bgPr>
    </p:bg>
    <p:spTree>
      <p:nvGrpSpPr>
        <p:cNvPr id="1" name=""/>
        <p:cNvGrpSpPr/>
        <p:nvPr/>
      </p:nvGrpSpPr>
      <p:grpSpPr>
        <a:xfrm>
          <a:off x="0" y="0"/>
          <a:ext cx="0" cy="0"/>
          <a:chOff x="0" y="0"/>
          <a:chExt cx="0" cy="0"/>
        </a:xfrm>
      </p:grpSpPr>
      <p:sp>
        <p:nvSpPr>
          <p:cNvPr id="2" name="TextBox 1"/>
          <p:cNvSpPr txBox="1"/>
          <p:nvPr/>
        </p:nvSpPr>
        <p:spPr>
          <a:xfrm>
            <a:off x="381000" y="152400"/>
            <a:ext cx="10795000" cy="261610"/>
          </a:xfrm>
          <a:prstGeom prst="rect">
            <a:avLst/>
          </a:prstGeom>
          <a:noFill/>
        </p:spPr>
        <p:txBody>
          <a:bodyPr vert="horz" rtlCol="0">
            <a:spAutoFit/>
          </a:bodyPr>
          <a:lstStyle/>
          <a:p>
            <a:r>
              <a:rPr lang="en-US" sz="1100" smtClean="0">
                <a:solidFill>
                  <a:srgbClr val="5EEAD4"/>
                </a:solidFill>
                <a:latin typeface="Segoe UI" panose="020B0502040204020203" pitchFamily="34" charset="0"/>
              </a:rPr>
              <a:t>EVENTSPROJECT  /  MODULE TACHE</a:t>
            </a:r>
            <a:endParaRPr lang="en-US" sz="1100">
              <a:solidFill>
                <a:srgbClr val="5EEAD4"/>
              </a:solidFill>
              <a:latin typeface="Segoe UI" panose="020B0502040204020203" pitchFamily="34" charset="0"/>
            </a:endParaRPr>
          </a:p>
        </p:txBody>
      </p:sp>
      <p:sp>
        <p:nvSpPr>
          <p:cNvPr id="3" name="TextBox 2"/>
          <p:cNvSpPr txBox="1"/>
          <p:nvPr/>
        </p:nvSpPr>
        <p:spPr>
          <a:xfrm>
            <a:off x="381000" y="533400"/>
            <a:ext cx="11430000" cy="523220"/>
          </a:xfrm>
          <a:prstGeom prst="rect">
            <a:avLst/>
          </a:prstGeom>
          <a:noFill/>
        </p:spPr>
        <p:txBody>
          <a:bodyPr vert="horz" rtlCol="0">
            <a:spAutoFit/>
          </a:bodyPr>
          <a:lstStyle/>
          <a:p>
            <a:r>
              <a:rPr lang="en-US" sz="2800" smtClean="0">
                <a:solidFill>
                  <a:srgbClr val="FFFFFF"/>
                </a:solidFill>
                <a:latin typeface="Segoe UI" panose="020B0502040204020203" pitchFamily="34" charset="0"/>
              </a:rPr>
              <a:t>Des sources aux preuves</a:t>
            </a:r>
            <a:endParaRPr lang="en-US" sz="2800">
              <a:solidFill>
                <a:srgbClr val="FFFFFF"/>
              </a:solidFill>
              <a:latin typeface="Segoe UI" panose="020B0502040204020203" pitchFamily="34" charset="0"/>
            </a:endParaRPr>
          </a:p>
        </p:txBody>
      </p:sp>
      <p:sp>
        <p:nvSpPr>
          <p:cNvPr id="4" name="TextBox 3"/>
          <p:cNvSpPr txBox="1"/>
          <p:nvPr/>
        </p:nvSpPr>
        <p:spPr>
          <a:xfrm>
            <a:off x="381000" y="1244600"/>
            <a:ext cx="11430000" cy="338554"/>
          </a:xfrm>
          <a:prstGeom prst="rect">
            <a:avLst/>
          </a:prstGeom>
          <a:noFill/>
        </p:spPr>
        <p:txBody>
          <a:bodyPr vert="horz" rtlCol="0">
            <a:spAutoFit/>
          </a:bodyPr>
          <a:lstStyle/>
          <a:p>
            <a:r>
              <a:rPr lang="fr-FR" sz="1600" smtClean="0">
                <a:solidFill>
                  <a:srgbClr val="E1E1E1"/>
                </a:solidFill>
                <a:latin typeface="Segoe UI" panose="020B0502040204020203" pitchFamily="34" charset="0"/>
              </a:rPr>
              <a:t>Contribution individuelle : affectation des rôles des participants</a:t>
            </a:r>
            <a:endParaRPr lang="en-US" sz="1600">
              <a:solidFill>
                <a:srgbClr val="E1E1E1"/>
              </a:solidFill>
              <a:latin typeface="Segoe UI" panose="020B0502040204020203" pitchFamily="34" charset="0"/>
            </a:endParaRPr>
          </a:p>
        </p:txBody>
      </p:sp>
      <p:sp>
        <p:nvSpPr>
          <p:cNvPr id="5" name="TextBox 4"/>
          <p:cNvSpPr txBox="1"/>
          <p:nvPr/>
        </p:nvSpPr>
        <p:spPr>
          <a:xfrm>
            <a:off x="11582400" y="6438900"/>
            <a:ext cx="381000" cy="246221"/>
          </a:xfrm>
          <a:prstGeom prst="rect">
            <a:avLst/>
          </a:prstGeom>
          <a:noFill/>
        </p:spPr>
        <p:txBody>
          <a:bodyPr vert="horz" rtlCol="0">
            <a:spAutoFit/>
          </a:bodyPr>
          <a:lstStyle/>
          <a:p>
            <a:r>
              <a:rPr lang="en-US" sz="1000" smtClean="0">
                <a:solidFill>
                  <a:srgbClr val="E1E1E1"/>
                </a:solidFill>
                <a:latin typeface="Segoe UI" panose="020B0502040204020203" pitchFamily="34" charset="0"/>
              </a:rPr>
              <a:t>1</a:t>
            </a:r>
            <a:endParaRPr lang="en-US" sz="1000">
              <a:solidFill>
                <a:srgbClr val="E1E1E1"/>
              </a:solidFill>
              <a:latin typeface="Segoe UI" panose="020B0502040204020203" pitchFamily="34" charset="0"/>
            </a:endParaRPr>
          </a:p>
        </p:txBody>
      </p:sp>
      <p:sp>
        <p:nvSpPr>
          <p:cNvPr id="6" name="TextBox 5"/>
          <p:cNvSpPr txBox="1"/>
          <p:nvPr/>
        </p:nvSpPr>
        <p:spPr>
          <a:xfrm>
            <a:off x="571500" y="2286000"/>
            <a:ext cx="10795000" cy="1261884"/>
          </a:xfrm>
          <a:prstGeom prst="rect">
            <a:avLst/>
          </a:prstGeom>
          <a:noFill/>
        </p:spPr>
        <p:txBody>
          <a:bodyPr vert="horz" rtlCol="0">
            <a:spAutoFit/>
          </a:bodyPr>
          <a:lstStyle/>
          <a:p>
            <a:r>
              <a:rPr lang="en-US" sz="3800" smtClean="0">
                <a:solidFill>
                  <a:srgbClr val="FFFFFF"/>
                </a:solidFill>
                <a:latin typeface="Segoe UI" panose="020B0502040204020203" pitchFamily="34" charset="0"/>
              </a:rPr>
              <a:t>eventsProject
Branche Tache</a:t>
            </a:r>
            <a:endParaRPr lang="en-US" sz="3800">
              <a:solidFill>
                <a:srgbClr val="FFFFFF"/>
              </a:solidFill>
              <a:latin typeface="Segoe UI" panose="020B0502040204020203" pitchFamily="34" charset="0"/>
            </a:endParaRPr>
          </a:p>
        </p:txBody>
      </p:sp>
      <p:sp>
        <p:nvSpPr>
          <p:cNvPr id="7" name="TextBox 6"/>
          <p:cNvSpPr txBox="1"/>
          <p:nvPr/>
        </p:nvSpPr>
        <p:spPr>
          <a:xfrm>
            <a:off x="571500" y="4191000"/>
            <a:ext cx="10795000" cy="800219"/>
          </a:xfrm>
          <a:prstGeom prst="rect">
            <a:avLst/>
          </a:prstGeom>
          <a:noFill/>
        </p:spPr>
        <p:txBody>
          <a:bodyPr vert="horz" rtlCol="0">
            <a:spAutoFit/>
          </a:bodyPr>
          <a:lstStyle/>
          <a:p>
            <a:r>
              <a:rPr lang="fr-FR" sz="2300" smtClean="0">
                <a:solidFill>
                  <a:srgbClr val="5EEAD4"/>
                </a:solidFill>
                <a:latin typeface="Segoe UI" panose="020B0502040204020203" pitchFamily="34" charset="0"/>
              </a:rPr>
              <a:t>Diagnostic initial vérifié
Compilation réussie · Connexion MySQL à corriger</a:t>
            </a:r>
            <a:endParaRPr lang="en-US" sz="2300">
              <a:solidFill>
                <a:srgbClr val="5EEAD4"/>
              </a:solidFill>
              <a:latin typeface="Segoe UI" panose="020B0502040204020203" pitchFamily="34" charset="0"/>
            </a:endParaRPr>
          </a:p>
        </p:txBody>
      </p:sp>
      <p:sp>
        <p:nvSpPr>
          <p:cNvPr id="8" name="TextBox 7"/>
          <p:cNvSpPr txBox="1"/>
          <p:nvPr/>
        </p:nvSpPr>
        <p:spPr>
          <a:xfrm>
            <a:off x="571500" y="5905500"/>
            <a:ext cx="10795000" cy="307777"/>
          </a:xfrm>
          <a:prstGeom prst="rect">
            <a:avLst/>
          </a:prstGeom>
          <a:noFill/>
        </p:spPr>
        <p:txBody>
          <a:bodyPr vert="horz" rtlCol="0">
            <a:spAutoFit/>
          </a:bodyPr>
          <a:lstStyle/>
          <a:p>
            <a:r>
              <a:rPr lang="fr-FR" sz="1400" smtClean="0">
                <a:solidFill>
                  <a:srgbClr val="E1E1E1"/>
                </a:solidFill>
                <a:latin typeface="Segoe UI" panose="020B0502040204020203" pitchFamily="34" charset="0"/>
              </a:rPr>
              <a:t>29 octobre 2026  |  Présentation progressive — phase 1</a:t>
            </a:r>
            <a:endParaRPr lang="en-US" sz="1400">
              <a:solidFill>
                <a:srgbClr val="E1E1E1"/>
              </a:solidFill>
              <a:latin typeface="Segoe UI" panose="020B0502040204020203" pitchFamily="34" charset="0"/>
            </a:endParaRPr>
          </a:p>
        </p:txBody>
      </p:sp>
    </p:spTree>
    <p:extLst>
      <p:ext uri="{BB962C8B-B14F-4D97-AF65-F5344CB8AC3E}">
        <p14:creationId xmlns:p14="http://schemas.microsoft.com/office/powerpoint/2010/main" val="29996688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72A"/>
        </a:solidFill>
        <a:effectLst/>
      </p:bgPr>
    </p:bg>
    <p:spTree>
      <p:nvGrpSpPr>
        <p:cNvPr id="1" name=""/>
        <p:cNvGrpSpPr/>
        <p:nvPr/>
      </p:nvGrpSpPr>
      <p:grpSpPr>
        <a:xfrm>
          <a:off x="0" y="0"/>
          <a:ext cx="0" cy="0"/>
          <a:chOff x="0" y="0"/>
          <a:chExt cx="0" cy="0"/>
        </a:xfrm>
      </p:grpSpPr>
      <p:sp>
        <p:nvSpPr>
          <p:cNvPr id="2" name="TextBox 1"/>
          <p:cNvSpPr txBox="1"/>
          <p:nvPr/>
        </p:nvSpPr>
        <p:spPr>
          <a:xfrm>
            <a:off x="381000" y="152400"/>
            <a:ext cx="10795000" cy="261610"/>
          </a:xfrm>
          <a:prstGeom prst="rect">
            <a:avLst/>
          </a:prstGeom>
          <a:noFill/>
        </p:spPr>
        <p:txBody>
          <a:bodyPr vert="horz" rtlCol="0">
            <a:spAutoFit/>
          </a:bodyPr>
          <a:lstStyle/>
          <a:p>
            <a:r>
              <a:rPr lang="en-US" sz="1100" smtClean="0">
                <a:solidFill>
                  <a:srgbClr val="5EEAD4"/>
                </a:solidFill>
                <a:latin typeface="Segoe UI" panose="020B0502040204020203" pitchFamily="34" charset="0"/>
              </a:rPr>
              <a:t>EVENTSPROJECT  /  MODULE TACHE</a:t>
            </a:r>
            <a:endParaRPr lang="en-US" sz="1100">
              <a:solidFill>
                <a:srgbClr val="5EEAD4"/>
              </a:solidFill>
              <a:latin typeface="Segoe UI" panose="020B0502040204020203" pitchFamily="34" charset="0"/>
            </a:endParaRPr>
          </a:p>
        </p:txBody>
      </p:sp>
      <p:sp>
        <p:nvSpPr>
          <p:cNvPr id="3" name="TextBox 2"/>
          <p:cNvSpPr txBox="1"/>
          <p:nvPr/>
        </p:nvSpPr>
        <p:spPr>
          <a:xfrm>
            <a:off x="381000" y="533400"/>
            <a:ext cx="11430000" cy="523220"/>
          </a:xfrm>
          <a:prstGeom prst="rect">
            <a:avLst/>
          </a:prstGeom>
          <a:noFill/>
        </p:spPr>
        <p:txBody>
          <a:bodyPr vert="horz" rtlCol="0">
            <a:spAutoFit/>
          </a:bodyPr>
          <a:lstStyle/>
          <a:p>
            <a:r>
              <a:rPr lang="en-US" sz="2800" smtClean="0">
                <a:solidFill>
                  <a:srgbClr val="FFFFFF"/>
                </a:solidFill>
                <a:latin typeface="Segoe UI" panose="020B0502040204020203" pitchFamily="34" charset="0"/>
              </a:rPr>
              <a:t>Un périmètre respecté</a:t>
            </a:r>
            <a:endParaRPr lang="en-US" sz="2800">
              <a:solidFill>
                <a:srgbClr val="FFFFFF"/>
              </a:solidFill>
              <a:latin typeface="Segoe UI" panose="020B0502040204020203" pitchFamily="34" charset="0"/>
            </a:endParaRPr>
          </a:p>
        </p:txBody>
      </p:sp>
      <p:sp>
        <p:nvSpPr>
          <p:cNvPr id="4" name="TextBox 3"/>
          <p:cNvSpPr txBox="1"/>
          <p:nvPr/>
        </p:nvSpPr>
        <p:spPr>
          <a:xfrm>
            <a:off x="381000" y="1244600"/>
            <a:ext cx="11430000" cy="338554"/>
          </a:xfrm>
          <a:prstGeom prst="rect">
            <a:avLst/>
          </a:prstGeom>
          <a:noFill/>
        </p:spPr>
        <p:txBody>
          <a:bodyPr vert="horz" rtlCol="0">
            <a:spAutoFit/>
          </a:bodyPr>
          <a:lstStyle/>
          <a:p>
            <a:r>
              <a:rPr lang="fr-FR" sz="1600" smtClean="0">
                <a:solidFill>
                  <a:srgbClr val="E1E1E1"/>
                </a:solidFill>
                <a:latin typeface="Segoe UI" panose="020B0502040204020203" pitchFamily="34" charset="0"/>
              </a:rPr>
              <a:t>Tache décrit un rôle ; Participant le persiste sous forme de chaîne.</a:t>
            </a:r>
            <a:endParaRPr lang="en-US" sz="1600">
              <a:solidFill>
                <a:srgbClr val="E1E1E1"/>
              </a:solidFill>
              <a:latin typeface="Segoe UI" panose="020B0502040204020203" pitchFamily="34"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2465" y="1981200"/>
            <a:ext cx="8287071" cy="4318000"/>
          </a:xfrm>
          <a:prstGeom prst="rect">
            <a:avLst/>
          </a:prstGeom>
        </p:spPr>
      </p:pic>
      <p:sp>
        <p:nvSpPr>
          <p:cNvPr id="6" name="TextBox 5"/>
          <p:cNvSpPr txBox="1"/>
          <p:nvPr/>
        </p:nvSpPr>
        <p:spPr>
          <a:xfrm>
            <a:off x="381000" y="6400800"/>
            <a:ext cx="10795000" cy="230832"/>
          </a:xfrm>
          <a:prstGeom prst="rect">
            <a:avLst/>
          </a:prstGeom>
          <a:noFill/>
        </p:spPr>
        <p:txBody>
          <a:bodyPr vert="horz" rtlCol="0">
            <a:spAutoFit/>
          </a:bodyPr>
          <a:lstStyle/>
          <a:p>
            <a:r>
              <a:rPr lang="en-US" sz="900" smtClean="0">
                <a:solidFill>
                  <a:srgbClr val="5EEAD4"/>
                </a:solidFill>
                <a:latin typeface="Segoe UI" panose="020B0502040204020203" pitchFamily="34" charset="0"/>
              </a:rPr>
              <a:t>Preuve : 01-project-setup/setup-02-tache-model.png</a:t>
            </a:r>
            <a:endParaRPr lang="en-US" sz="900">
              <a:solidFill>
                <a:srgbClr val="5EEAD4"/>
              </a:solidFill>
              <a:latin typeface="Segoe UI" panose="020B0502040204020203" pitchFamily="34" charset="0"/>
            </a:endParaRPr>
          </a:p>
        </p:txBody>
      </p:sp>
      <p:sp>
        <p:nvSpPr>
          <p:cNvPr id="7" name="TextBox 6"/>
          <p:cNvSpPr txBox="1"/>
          <p:nvPr/>
        </p:nvSpPr>
        <p:spPr>
          <a:xfrm>
            <a:off x="11582400" y="6438900"/>
            <a:ext cx="381000" cy="246221"/>
          </a:xfrm>
          <a:prstGeom prst="rect">
            <a:avLst/>
          </a:prstGeom>
          <a:noFill/>
        </p:spPr>
        <p:txBody>
          <a:bodyPr vert="horz" rtlCol="0">
            <a:spAutoFit/>
          </a:bodyPr>
          <a:lstStyle/>
          <a:p>
            <a:r>
              <a:rPr lang="en-US" sz="1000" smtClean="0">
                <a:solidFill>
                  <a:srgbClr val="E1E1E1"/>
                </a:solidFill>
                <a:latin typeface="Segoe UI" panose="020B0502040204020203" pitchFamily="34" charset="0"/>
              </a:rPr>
              <a:t>2</a:t>
            </a:r>
            <a:endParaRPr lang="en-US" sz="1000">
              <a:solidFill>
                <a:srgbClr val="E1E1E1"/>
              </a:solidFill>
              <a:latin typeface="Segoe UI" panose="020B0502040204020203" pitchFamily="34" charset="0"/>
            </a:endParaRPr>
          </a:p>
        </p:txBody>
      </p:sp>
    </p:spTree>
    <p:extLst>
      <p:ext uri="{BB962C8B-B14F-4D97-AF65-F5344CB8AC3E}">
        <p14:creationId xmlns:p14="http://schemas.microsoft.com/office/powerpoint/2010/main" val="555010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272A"/>
        </a:solidFill>
        <a:effectLst/>
      </p:bgPr>
    </p:bg>
    <p:spTree>
      <p:nvGrpSpPr>
        <p:cNvPr id="1" name=""/>
        <p:cNvGrpSpPr/>
        <p:nvPr/>
      </p:nvGrpSpPr>
      <p:grpSpPr>
        <a:xfrm>
          <a:off x="0" y="0"/>
          <a:ext cx="0" cy="0"/>
          <a:chOff x="0" y="0"/>
          <a:chExt cx="0" cy="0"/>
        </a:xfrm>
      </p:grpSpPr>
      <p:sp>
        <p:nvSpPr>
          <p:cNvPr id="2" name="TextBox 1"/>
          <p:cNvSpPr txBox="1"/>
          <p:nvPr/>
        </p:nvSpPr>
        <p:spPr>
          <a:xfrm>
            <a:off x="381000" y="152400"/>
            <a:ext cx="10795000" cy="261610"/>
          </a:xfrm>
          <a:prstGeom prst="rect">
            <a:avLst/>
          </a:prstGeom>
          <a:noFill/>
        </p:spPr>
        <p:txBody>
          <a:bodyPr vert="horz" rtlCol="0">
            <a:spAutoFit/>
          </a:bodyPr>
          <a:lstStyle/>
          <a:p>
            <a:r>
              <a:rPr lang="en-US" sz="1100" smtClean="0">
                <a:solidFill>
                  <a:srgbClr val="5EEAD4"/>
                </a:solidFill>
                <a:latin typeface="Segoe UI" panose="020B0502040204020203" pitchFamily="34" charset="0"/>
              </a:rPr>
              <a:t>EVENTSPROJECT  /  MODULE TACHE</a:t>
            </a:r>
            <a:endParaRPr lang="en-US" sz="1100">
              <a:solidFill>
                <a:srgbClr val="5EEAD4"/>
              </a:solidFill>
              <a:latin typeface="Segoe UI" panose="020B0502040204020203" pitchFamily="34" charset="0"/>
            </a:endParaRPr>
          </a:p>
        </p:txBody>
      </p:sp>
      <p:sp>
        <p:nvSpPr>
          <p:cNvPr id="3" name="TextBox 2"/>
          <p:cNvSpPr txBox="1"/>
          <p:nvPr/>
        </p:nvSpPr>
        <p:spPr>
          <a:xfrm>
            <a:off x="381000" y="533400"/>
            <a:ext cx="11430000" cy="523220"/>
          </a:xfrm>
          <a:prstGeom prst="rect">
            <a:avLst/>
          </a:prstGeom>
          <a:noFill/>
        </p:spPr>
        <p:txBody>
          <a:bodyPr vert="horz" rtlCol="0">
            <a:spAutoFit/>
          </a:bodyPr>
          <a:lstStyle/>
          <a:p>
            <a:r>
              <a:rPr lang="fr-FR" sz="2800" smtClean="0">
                <a:solidFill>
                  <a:srgbClr val="FFFFFF"/>
                </a:solidFill>
                <a:latin typeface="Segoe UI" panose="020B0502040204020203" pitchFamily="34" charset="0"/>
              </a:rPr>
              <a:t>Une branche de contribution dédiée</a:t>
            </a:r>
            <a:endParaRPr lang="en-US" sz="2800">
              <a:solidFill>
                <a:srgbClr val="FFFFFF"/>
              </a:solidFill>
              <a:latin typeface="Segoe UI" panose="020B0502040204020203" pitchFamily="34" charset="0"/>
            </a:endParaRPr>
          </a:p>
        </p:txBody>
      </p:sp>
      <p:sp>
        <p:nvSpPr>
          <p:cNvPr id="4" name="TextBox 3"/>
          <p:cNvSpPr txBox="1"/>
          <p:nvPr/>
        </p:nvSpPr>
        <p:spPr>
          <a:xfrm>
            <a:off x="381000" y="1244600"/>
            <a:ext cx="11430000" cy="338554"/>
          </a:xfrm>
          <a:prstGeom prst="rect">
            <a:avLst/>
          </a:prstGeom>
          <a:noFill/>
        </p:spPr>
        <p:txBody>
          <a:bodyPr vert="horz" rtlCol="0">
            <a:spAutoFit/>
          </a:bodyPr>
          <a:lstStyle/>
          <a:p>
            <a:r>
              <a:rPr lang="fr-FR" sz="1600" smtClean="0">
                <a:solidFill>
                  <a:srgbClr val="E1E1E1"/>
                </a:solidFill>
                <a:latin typeface="Segoe UI" panose="020B0502040204020203" pitchFamily="34" charset="0"/>
              </a:rPr>
              <a:t>Branche locale Tache vérifiée ; historique conservé, aucun push effectué.</a:t>
            </a:r>
            <a:endParaRPr lang="en-US" sz="1600">
              <a:solidFill>
                <a:srgbClr val="E1E1E1"/>
              </a:solidFill>
              <a:latin typeface="Segoe UI" panose="020B0502040204020203" pitchFamily="34"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2465" y="1981200"/>
            <a:ext cx="8287071" cy="4318000"/>
          </a:xfrm>
          <a:prstGeom prst="rect">
            <a:avLst/>
          </a:prstGeom>
        </p:spPr>
      </p:pic>
      <p:sp>
        <p:nvSpPr>
          <p:cNvPr id="6" name="TextBox 5"/>
          <p:cNvSpPr txBox="1"/>
          <p:nvPr/>
        </p:nvSpPr>
        <p:spPr>
          <a:xfrm>
            <a:off x="381000" y="6400800"/>
            <a:ext cx="10795000" cy="230832"/>
          </a:xfrm>
          <a:prstGeom prst="rect">
            <a:avLst/>
          </a:prstGeom>
          <a:noFill/>
        </p:spPr>
        <p:txBody>
          <a:bodyPr vert="horz" rtlCol="0">
            <a:spAutoFit/>
          </a:bodyPr>
          <a:lstStyle/>
          <a:p>
            <a:r>
              <a:rPr lang="en-US" sz="900" smtClean="0">
                <a:solidFill>
                  <a:srgbClr val="5EEAD4"/>
                </a:solidFill>
                <a:latin typeface="Segoe UI" panose="020B0502040204020203" pitchFamily="34" charset="0"/>
              </a:rPr>
              <a:t>Preuve : 05-git/git-01-branch-history.png</a:t>
            </a:r>
            <a:endParaRPr lang="en-US" sz="900">
              <a:solidFill>
                <a:srgbClr val="5EEAD4"/>
              </a:solidFill>
              <a:latin typeface="Segoe UI" panose="020B0502040204020203" pitchFamily="34" charset="0"/>
            </a:endParaRPr>
          </a:p>
        </p:txBody>
      </p:sp>
      <p:sp>
        <p:nvSpPr>
          <p:cNvPr id="7" name="TextBox 6"/>
          <p:cNvSpPr txBox="1"/>
          <p:nvPr/>
        </p:nvSpPr>
        <p:spPr>
          <a:xfrm>
            <a:off x="11582400" y="6438900"/>
            <a:ext cx="381000" cy="246221"/>
          </a:xfrm>
          <a:prstGeom prst="rect">
            <a:avLst/>
          </a:prstGeom>
          <a:noFill/>
        </p:spPr>
        <p:txBody>
          <a:bodyPr vert="horz" rtlCol="0">
            <a:spAutoFit/>
          </a:bodyPr>
          <a:lstStyle/>
          <a:p>
            <a:r>
              <a:rPr lang="en-US" sz="1000" smtClean="0">
                <a:solidFill>
                  <a:srgbClr val="E1E1E1"/>
                </a:solidFill>
                <a:latin typeface="Segoe UI" panose="020B0502040204020203" pitchFamily="34" charset="0"/>
              </a:rPr>
              <a:t>3</a:t>
            </a:r>
            <a:endParaRPr lang="en-US" sz="1000">
              <a:solidFill>
                <a:srgbClr val="E1E1E1"/>
              </a:solidFill>
              <a:latin typeface="Segoe UI" panose="020B0502040204020203" pitchFamily="34" charset="0"/>
            </a:endParaRPr>
          </a:p>
        </p:txBody>
      </p:sp>
    </p:spTree>
    <p:extLst>
      <p:ext uri="{BB962C8B-B14F-4D97-AF65-F5344CB8AC3E}">
        <p14:creationId xmlns:p14="http://schemas.microsoft.com/office/powerpoint/2010/main" val="38485026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272A"/>
        </a:solidFill>
        <a:effectLst/>
      </p:bgPr>
    </p:bg>
    <p:spTree>
      <p:nvGrpSpPr>
        <p:cNvPr id="1" name=""/>
        <p:cNvGrpSpPr/>
        <p:nvPr/>
      </p:nvGrpSpPr>
      <p:grpSpPr>
        <a:xfrm>
          <a:off x="0" y="0"/>
          <a:ext cx="0" cy="0"/>
          <a:chOff x="0" y="0"/>
          <a:chExt cx="0" cy="0"/>
        </a:xfrm>
      </p:grpSpPr>
      <p:sp>
        <p:nvSpPr>
          <p:cNvPr id="2" name="TextBox 1"/>
          <p:cNvSpPr txBox="1"/>
          <p:nvPr/>
        </p:nvSpPr>
        <p:spPr>
          <a:xfrm>
            <a:off x="381000" y="152400"/>
            <a:ext cx="10795000" cy="261610"/>
          </a:xfrm>
          <a:prstGeom prst="rect">
            <a:avLst/>
          </a:prstGeom>
          <a:noFill/>
        </p:spPr>
        <p:txBody>
          <a:bodyPr vert="horz" rtlCol="0">
            <a:spAutoFit/>
          </a:bodyPr>
          <a:lstStyle/>
          <a:p>
            <a:r>
              <a:rPr lang="en-US" sz="1100" smtClean="0">
                <a:solidFill>
                  <a:srgbClr val="5EEAD4"/>
                </a:solidFill>
                <a:latin typeface="Segoe UI" panose="020B0502040204020203" pitchFamily="34" charset="0"/>
              </a:rPr>
              <a:t>EVENTSPROJECT  /  MODULE TACHE</a:t>
            </a:r>
            <a:endParaRPr lang="en-US" sz="1100">
              <a:solidFill>
                <a:srgbClr val="5EEAD4"/>
              </a:solidFill>
              <a:latin typeface="Segoe UI" panose="020B0502040204020203" pitchFamily="34" charset="0"/>
            </a:endParaRPr>
          </a:p>
        </p:txBody>
      </p:sp>
      <p:sp>
        <p:nvSpPr>
          <p:cNvPr id="3" name="TextBox 2"/>
          <p:cNvSpPr txBox="1"/>
          <p:nvPr/>
        </p:nvSpPr>
        <p:spPr>
          <a:xfrm>
            <a:off x="381000" y="533400"/>
            <a:ext cx="11430000" cy="523220"/>
          </a:xfrm>
          <a:prstGeom prst="rect">
            <a:avLst/>
          </a:prstGeom>
          <a:noFill/>
        </p:spPr>
        <p:txBody>
          <a:bodyPr vert="horz" rtlCol="0">
            <a:spAutoFit/>
          </a:bodyPr>
          <a:lstStyle/>
          <a:p>
            <a:r>
              <a:rPr lang="en-US" sz="2800" smtClean="0">
                <a:solidFill>
                  <a:srgbClr val="FFFFFF"/>
                </a:solidFill>
                <a:latin typeface="Segoe UI" panose="020B0502040204020203" pitchFamily="34" charset="0"/>
              </a:rPr>
              <a:t>Rendre les outils accessibles</a:t>
            </a:r>
            <a:endParaRPr lang="en-US" sz="2800">
              <a:solidFill>
                <a:srgbClr val="FFFFFF"/>
              </a:solidFill>
              <a:latin typeface="Segoe UI" panose="020B0502040204020203" pitchFamily="34" charset="0"/>
            </a:endParaRPr>
          </a:p>
        </p:txBody>
      </p:sp>
      <p:sp>
        <p:nvSpPr>
          <p:cNvPr id="4" name="TextBox 3"/>
          <p:cNvSpPr txBox="1"/>
          <p:nvPr/>
        </p:nvSpPr>
        <p:spPr>
          <a:xfrm>
            <a:off x="381000" y="1244600"/>
            <a:ext cx="11430000" cy="338554"/>
          </a:xfrm>
          <a:prstGeom prst="rect">
            <a:avLst/>
          </a:prstGeom>
          <a:noFill/>
        </p:spPr>
        <p:txBody>
          <a:bodyPr vert="horz" rtlCol="0">
            <a:spAutoFit/>
          </a:bodyPr>
          <a:lstStyle/>
          <a:p>
            <a:r>
              <a:rPr lang="fr-FR" sz="1600" smtClean="0">
                <a:solidFill>
                  <a:srgbClr val="E1E1E1"/>
                </a:solidFill>
                <a:latin typeface="Segoe UI" panose="020B0502040204020203" pitchFamily="34" charset="0"/>
              </a:rPr>
              <a:t>Maven 3.9.14 et Java 8 sélectionnés pour la session PowerShell.</a:t>
            </a:r>
            <a:endParaRPr lang="en-US" sz="1600">
              <a:solidFill>
                <a:srgbClr val="E1E1E1"/>
              </a:solidFill>
              <a:latin typeface="Segoe UI" panose="020B0502040204020203" pitchFamily="34"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2465" y="1981200"/>
            <a:ext cx="8287071" cy="4318000"/>
          </a:xfrm>
          <a:prstGeom prst="rect">
            <a:avLst/>
          </a:prstGeom>
        </p:spPr>
      </p:pic>
      <p:sp>
        <p:nvSpPr>
          <p:cNvPr id="6" name="TextBox 5"/>
          <p:cNvSpPr txBox="1"/>
          <p:nvPr/>
        </p:nvSpPr>
        <p:spPr>
          <a:xfrm>
            <a:off x="381000" y="6400800"/>
            <a:ext cx="10795000" cy="230832"/>
          </a:xfrm>
          <a:prstGeom prst="rect">
            <a:avLst/>
          </a:prstGeom>
          <a:noFill/>
        </p:spPr>
        <p:txBody>
          <a:bodyPr vert="horz" rtlCol="0">
            <a:spAutoFit/>
          </a:bodyPr>
          <a:lstStyle/>
          <a:p>
            <a:r>
              <a:rPr lang="en-US" sz="900" smtClean="0">
                <a:solidFill>
                  <a:srgbClr val="5EEAD4"/>
                </a:solidFill>
                <a:latin typeface="Segoe UI" panose="020B0502040204020203" pitchFamily="34" charset="0"/>
              </a:rPr>
              <a:t>Preuve : 02-maven/maven-01-toolchain.png</a:t>
            </a:r>
            <a:endParaRPr lang="en-US" sz="900">
              <a:solidFill>
                <a:srgbClr val="5EEAD4"/>
              </a:solidFill>
              <a:latin typeface="Segoe UI" panose="020B0502040204020203" pitchFamily="34" charset="0"/>
            </a:endParaRPr>
          </a:p>
        </p:txBody>
      </p:sp>
      <p:sp>
        <p:nvSpPr>
          <p:cNvPr id="7" name="TextBox 6"/>
          <p:cNvSpPr txBox="1"/>
          <p:nvPr/>
        </p:nvSpPr>
        <p:spPr>
          <a:xfrm>
            <a:off x="11582400" y="6438900"/>
            <a:ext cx="381000" cy="246221"/>
          </a:xfrm>
          <a:prstGeom prst="rect">
            <a:avLst/>
          </a:prstGeom>
          <a:noFill/>
        </p:spPr>
        <p:txBody>
          <a:bodyPr vert="horz" rtlCol="0">
            <a:spAutoFit/>
          </a:bodyPr>
          <a:lstStyle/>
          <a:p>
            <a:r>
              <a:rPr lang="en-US" sz="1000" smtClean="0">
                <a:solidFill>
                  <a:srgbClr val="E1E1E1"/>
                </a:solidFill>
                <a:latin typeface="Segoe UI" panose="020B0502040204020203" pitchFamily="34" charset="0"/>
              </a:rPr>
              <a:t>4</a:t>
            </a:r>
            <a:endParaRPr lang="en-US" sz="1000">
              <a:solidFill>
                <a:srgbClr val="E1E1E1"/>
              </a:solidFill>
              <a:latin typeface="Segoe UI" panose="020B0502040204020203" pitchFamily="34" charset="0"/>
            </a:endParaRPr>
          </a:p>
        </p:txBody>
      </p:sp>
    </p:spTree>
    <p:extLst>
      <p:ext uri="{BB962C8B-B14F-4D97-AF65-F5344CB8AC3E}">
        <p14:creationId xmlns:p14="http://schemas.microsoft.com/office/powerpoint/2010/main" val="964661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272A"/>
        </a:solidFill>
        <a:effectLst/>
      </p:bgPr>
    </p:bg>
    <p:spTree>
      <p:nvGrpSpPr>
        <p:cNvPr id="1" name=""/>
        <p:cNvGrpSpPr/>
        <p:nvPr/>
      </p:nvGrpSpPr>
      <p:grpSpPr>
        <a:xfrm>
          <a:off x="0" y="0"/>
          <a:ext cx="0" cy="0"/>
          <a:chOff x="0" y="0"/>
          <a:chExt cx="0" cy="0"/>
        </a:xfrm>
      </p:grpSpPr>
      <p:sp>
        <p:nvSpPr>
          <p:cNvPr id="2" name="TextBox 1"/>
          <p:cNvSpPr txBox="1"/>
          <p:nvPr/>
        </p:nvSpPr>
        <p:spPr>
          <a:xfrm>
            <a:off x="381000" y="152400"/>
            <a:ext cx="10795000" cy="261610"/>
          </a:xfrm>
          <a:prstGeom prst="rect">
            <a:avLst/>
          </a:prstGeom>
          <a:noFill/>
        </p:spPr>
        <p:txBody>
          <a:bodyPr vert="horz" rtlCol="0">
            <a:spAutoFit/>
          </a:bodyPr>
          <a:lstStyle/>
          <a:p>
            <a:r>
              <a:rPr lang="en-US" sz="1100" smtClean="0">
                <a:solidFill>
                  <a:srgbClr val="5EEAD4"/>
                </a:solidFill>
                <a:latin typeface="Segoe UI" panose="020B0502040204020203" pitchFamily="34" charset="0"/>
              </a:rPr>
              <a:t>EVENTSPROJECT  /  MODULE TACHE</a:t>
            </a:r>
            <a:endParaRPr lang="en-US" sz="1100">
              <a:solidFill>
                <a:srgbClr val="5EEAD4"/>
              </a:solidFill>
              <a:latin typeface="Segoe UI" panose="020B0502040204020203" pitchFamily="34" charset="0"/>
            </a:endParaRPr>
          </a:p>
        </p:txBody>
      </p:sp>
      <p:sp>
        <p:nvSpPr>
          <p:cNvPr id="3" name="TextBox 2"/>
          <p:cNvSpPr txBox="1"/>
          <p:nvPr/>
        </p:nvSpPr>
        <p:spPr>
          <a:xfrm>
            <a:off x="381000" y="533400"/>
            <a:ext cx="11430000" cy="523220"/>
          </a:xfrm>
          <a:prstGeom prst="rect">
            <a:avLst/>
          </a:prstGeom>
          <a:noFill/>
        </p:spPr>
        <p:txBody>
          <a:bodyPr vert="horz" rtlCol="0">
            <a:spAutoFit/>
          </a:bodyPr>
          <a:lstStyle/>
          <a:p>
            <a:r>
              <a:rPr lang="en-US" sz="2800" smtClean="0">
                <a:solidFill>
                  <a:srgbClr val="FFFFFF"/>
                </a:solidFill>
                <a:latin typeface="Segoe UI" panose="020B0502040204020203" pitchFamily="34" charset="0"/>
              </a:rPr>
              <a:t>Compiler le projet existant</a:t>
            </a:r>
            <a:endParaRPr lang="en-US" sz="2800">
              <a:solidFill>
                <a:srgbClr val="FFFFFF"/>
              </a:solidFill>
              <a:latin typeface="Segoe UI" panose="020B0502040204020203" pitchFamily="34" charset="0"/>
            </a:endParaRPr>
          </a:p>
        </p:txBody>
      </p:sp>
      <p:sp>
        <p:nvSpPr>
          <p:cNvPr id="4" name="TextBox 3"/>
          <p:cNvSpPr txBox="1"/>
          <p:nvPr/>
        </p:nvSpPr>
        <p:spPr>
          <a:xfrm>
            <a:off x="381000" y="1244600"/>
            <a:ext cx="11430000" cy="338554"/>
          </a:xfrm>
          <a:prstGeom prst="rect">
            <a:avLst/>
          </a:prstGeom>
          <a:noFill/>
        </p:spPr>
        <p:txBody>
          <a:bodyPr vert="horz" rtlCol="0">
            <a:spAutoFit/>
          </a:bodyPr>
          <a:lstStyle/>
          <a:p>
            <a:r>
              <a:rPr lang="fr-FR" sz="1600" smtClean="0">
                <a:solidFill>
                  <a:srgbClr val="E1E1E1"/>
                </a:solidFill>
                <a:latin typeface="Segoe UI" panose="020B0502040204020203" pitchFamily="34" charset="0"/>
              </a:rPr>
              <a:t>12 sources compilées avec succès, sans modification du code applicatif.</a:t>
            </a:r>
            <a:endParaRPr lang="en-US" sz="1600">
              <a:solidFill>
                <a:srgbClr val="E1E1E1"/>
              </a:solidFill>
              <a:latin typeface="Segoe UI" panose="020B0502040204020203" pitchFamily="34"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2465" y="1981200"/>
            <a:ext cx="8287071" cy="4318000"/>
          </a:xfrm>
          <a:prstGeom prst="rect">
            <a:avLst/>
          </a:prstGeom>
        </p:spPr>
      </p:pic>
      <p:sp>
        <p:nvSpPr>
          <p:cNvPr id="6" name="TextBox 5"/>
          <p:cNvSpPr txBox="1"/>
          <p:nvPr/>
        </p:nvSpPr>
        <p:spPr>
          <a:xfrm>
            <a:off x="381000" y="6400800"/>
            <a:ext cx="10795000" cy="230832"/>
          </a:xfrm>
          <a:prstGeom prst="rect">
            <a:avLst/>
          </a:prstGeom>
          <a:noFill/>
        </p:spPr>
        <p:txBody>
          <a:bodyPr vert="horz" rtlCol="0">
            <a:spAutoFit/>
          </a:bodyPr>
          <a:lstStyle/>
          <a:p>
            <a:r>
              <a:rPr lang="en-US" sz="900" smtClean="0">
                <a:solidFill>
                  <a:srgbClr val="5EEAD4"/>
                </a:solidFill>
                <a:latin typeface="Segoe UI" panose="020B0502040204020203" pitchFamily="34" charset="0"/>
              </a:rPr>
              <a:t>Preuve : 02-maven/maven-02-baseline-build.png</a:t>
            </a:r>
            <a:endParaRPr lang="en-US" sz="900">
              <a:solidFill>
                <a:srgbClr val="5EEAD4"/>
              </a:solidFill>
              <a:latin typeface="Segoe UI" panose="020B0502040204020203" pitchFamily="34" charset="0"/>
            </a:endParaRPr>
          </a:p>
        </p:txBody>
      </p:sp>
      <p:sp>
        <p:nvSpPr>
          <p:cNvPr id="7" name="TextBox 6"/>
          <p:cNvSpPr txBox="1"/>
          <p:nvPr/>
        </p:nvSpPr>
        <p:spPr>
          <a:xfrm>
            <a:off x="11582400" y="6438900"/>
            <a:ext cx="381000" cy="246221"/>
          </a:xfrm>
          <a:prstGeom prst="rect">
            <a:avLst/>
          </a:prstGeom>
          <a:noFill/>
        </p:spPr>
        <p:txBody>
          <a:bodyPr vert="horz" rtlCol="0">
            <a:spAutoFit/>
          </a:bodyPr>
          <a:lstStyle/>
          <a:p>
            <a:r>
              <a:rPr lang="en-US" sz="1000" smtClean="0">
                <a:solidFill>
                  <a:srgbClr val="E1E1E1"/>
                </a:solidFill>
                <a:latin typeface="Segoe UI" panose="020B0502040204020203" pitchFamily="34" charset="0"/>
              </a:rPr>
              <a:t>5</a:t>
            </a:r>
            <a:endParaRPr lang="en-US" sz="1000">
              <a:solidFill>
                <a:srgbClr val="E1E1E1"/>
              </a:solidFill>
              <a:latin typeface="Segoe UI" panose="020B0502040204020203" pitchFamily="34" charset="0"/>
            </a:endParaRPr>
          </a:p>
        </p:txBody>
      </p:sp>
    </p:spTree>
    <p:extLst>
      <p:ext uri="{BB962C8B-B14F-4D97-AF65-F5344CB8AC3E}">
        <p14:creationId xmlns:p14="http://schemas.microsoft.com/office/powerpoint/2010/main" val="3452200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272A"/>
        </a:solidFill>
        <a:effectLst/>
      </p:bgPr>
    </p:bg>
    <p:spTree>
      <p:nvGrpSpPr>
        <p:cNvPr id="1" name=""/>
        <p:cNvGrpSpPr/>
        <p:nvPr/>
      </p:nvGrpSpPr>
      <p:grpSpPr>
        <a:xfrm>
          <a:off x="0" y="0"/>
          <a:ext cx="0" cy="0"/>
          <a:chOff x="0" y="0"/>
          <a:chExt cx="0" cy="0"/>
        </a:xfrm>
      </p:grpSpPr>
      <p:sp>
        <p:nvSpPr>
          <p:cNvPr id="2" name="TextBox 1"/>
          <p:cNvSpPr txBox="1"/>
          <p:nvPr/>
        </p:nvSpPr>
        <p:spPr>
          <a:xfrm>
            <a:off x="381000" y="152400"/>
            <a:ext cx="10795000" cy="261610"/>
          </a:xfrm>
          <a:prstGeom prst="rect">
            <a:avLst/>
          </a:prstGeom>
          <a:noFill/>
        </p:spPr>
        <p:txBody>
          <a:bodyPr vert="horz" rtlCol="0">
            <a:spAutoFit/>
          </a:bodyPr>
          <a:lstStyle/>
          <a:p>
            <a:r>
              <a:rPr lang="en-US" sz="1100" smtClean="0">
                <a:solidFill>
                  <a:srgbClr val="5EEAD4"/>
                </a:solidFill>
                <a:latin typeface="Segoe UI" panose="020B0502040204020203" pitchFamily="34" charset="0"/>
              </a:rPr>
              <a:t>EVENTSPROJECT  /  MODULE TACHE</a:t>
            </a:r>
            <a:endParaRPr lang="en-US" sz="1100">
              <a:solidFill>
                <a:srgbClr val="5EEAD4"/>
              </a:solidFill>
              <a:latin typeface="Segoe UI" panose="020B0502040204020203" pitchFamily="34" charset="0"/>
            </a:endParaRPr>
          </a:p>
        </p:txBody>
      </p:sp>
      <p:sp>
        <p:nvSpPr>
          <p:cNvPr id="3" name="TextBox 2"/>
          <p:cNvSpPr txBox="1"/>
          <p:nvPr/>
        </p:nvSpPr>
        <p:spPr>
          <a:xfrm>
            <a:off x="381000" y="533400"/>
            <a:ext cx="11430000" cy="523220"/>
          </a:xfrm>
          <a:prstGeom prst="rect">
            <a:avLst/>
          </a:prstGeom>
          <a:noFill/>
        </p:spPr>
        <p:txBody>
          <a:bodyPr vert="horz" rtlCol="0">
            <a:spAutoFit/>
          </a:bodyPr>
          <a:lstStyle/>
          <a:p>
            <a:r>
              <a:rPr lang="en-US" sz="2800" smtClean="0">
                <a:solidFill>
                  <a:srgbClr val="FFFFFF"/>
                </a:solidFill>
                <a:latin typeface="Segoe UI" panose="020B0502040204020203" pitchFamily="34" charset="0"/>
              </a:rPr>
              <a:t>Identifier le véritable blocage</a:t>
            </a:r>
            <a:endParaRPr lang="en-US" sz="2800">
              <a:solidFill>
                <a:srgbClr val="FFFFFF"/>
              </a:solidFill>
              <a:latin typeface="Segoe UI" panose="020B0502040204020203" pitchFamily="34" charset="0"/>
            </a:endParaRPr>
          </a:p>
        </p:txBody>
      </p:sp>
      <p:sp>
        <p:nvSpPr>
          <p:cNvPr id="4" name="TextBox 3"/>
          <p:cNvSpPr txBox="1"/>
          <p:nvPr/>
        </p:nvSpPr>
        <p:spPr>
          <a:xfrm>
            <a:off x="381000" y="1244600"/>
            <a:ext cx="11430000" cy="338554"/>
          </a:xfrm>
          <a:prstGeom prst="rect">
            <a:avLst/>
          </a:prstGeom>
          <a:noFill/>
        </p:spPr>
        <p:txBody>
          <a:bodyPr vert="horz" rtlCol="0">
            <a:spAutoFit/>
          </a:bodyPr>
          <a:lstStyle/>
          <a:p>
            <a:r>
              <a:rPr lang="fr-FR" sz="1600" smtClean="0">
                <a:solidFill>
                  <a:srgbClr val="E1E1E1"/>
                </a:solidFill>
                <a:latin typeface="Segoe UI" panose="020B0502040204020203" pitchFamily="34" charset="0"/>
              </a:rPr>
              <a:t>HTTP démarre, mais MySQL refuse le compte configuré : l'API retourne 500.</a:t>
            </a:r>
            <a:endParaRPr lang="en-US" sz="1600">
              <a:solidFill>
                <a:srgbClr val="E1E1E1"/>
              </a:solidFill>
              <a:latin typeface="Segoe UI" panose="020B0502040204020203" pitchFamily="34"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52465" y="1981200"/>
            <a:ext cx="8287071" cy="4318000"/>
          </a:xfrm>
          <a:prstGeom prst="rect">
            <a:avLst/>
          </a:prstGeom>
        </p:spPr>
      </p:pic>
      <p:sp>
        <p:nvSpPr>
          <p:cNvPr id="6" name="TextBox 5"/>
          <p:cNvSpPr txBox="1"/>
          <p:nvPr/>
        </p:nvSpPr>
        <p:spPr>
          <a:xfrm>
            <a:off x="381000" y="6400800"/>
            <a:ext cx="10795000" cy="230832"/>
          </a:xfrm>
          <a:prstGeom prst="rect">
            <a:avLst/>
          </a:prstGeom>
          <a:noFill/>
        </p:spPr>
        <p:txBody>
          <a:bodyPr vert="horz" rtlCol="0">
            <a:spAutoFit/>
          </a:bodyPr>
          <a:lstStyle/>
          <a:p>
            <a:r>
              <a:rPr lang="en-US" sz="900" smtClean="0">
                <a:solidFill>
                  <a:srgbClr val="5EEAD4"/>
                </a:solidFill>
                <a:latin typeface="Segoe UI" panose="020B0502040204020203" pitchFamily="34" charset="0"/>
              </a:rPr>
              <a:t>Preuve : 01-project-setup/setup-03-database-blocker.png</a:t>
            </a:r>
            <a:endParaRPr lang="en-US" sz="900">
              <a:solidFill>
                <a:srgbClr val="5EEAD4"/>
              </a:solidFill>
              <a:latin typeface="Segoe UI" panose="020B0502040204020203" pitchFamily="34" charset="0"/>
            </a:endParaRPr>
          </a:p>
        </p:txBody>
      </p:sp>
      <p:sp>
        <p:nvSpPr>
          <p:cNvPr id="7" name="TextBox 6"/>
          <p:cNvSpPr txBox="1"/>
          <p:nvPr/>
        </p:nvSpPr>
        <p:spPr>
          <a:xfrm>
            <a:off x="11582400" y="6438900"/>
            <a:ext cx="381000" cy="246221"/>
          </a:xfrm>
          <a:prstGeom prst="rect">
            <a:avLst/>
          </a:prstGeom>
          <a:noFill/>
        </p:spPr>
        <p:txBody>
          <a:bodyPr vert="horz" rtlCol="0">
            <a:spAutoFit/>
          </a:bodyPr>
          <a:lstStyle/>
          <a:p>
            <a:r>
              <a:rPr lang="en-US" sz="1000" smtClean="0">
                <a:solidFill>
                  <a:srgbClr val="E1E1E1"/>
                </a:solidFill>
                <a:latin typeface="Segoe UI" panose="020B0502040204020203" pitchFamily="34" charset="0"/>
              </a:rPr>
              <a:t>6</a:t>
            </a:r>
            <a:endParaRPr lang="en-US" sz="1000">
              <a:solidFill>
                <a:srgbClr val="E1E1E1"/>
              </a:solidFill>
              <a:latin typeface="Segoe UI" panose="020B0502040204020203" pitchFamily="34" charset="0"/>
            </a:endParaRPr>
          </a:p>
        </p:txBody>
      </p:sp>
    </p:spTree>
    <p:extLst>
      <p:ext uri="{BB962C8B-B14F-4D97-AF65-F5344CB8AC3E}">
        <p14:creationId xmlns:p14="http://schemas.microsoft.com/office/powerpoint/2010/main" val="13800157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272A"/>
        </a:solidFill>
        <a:effectLst/>
      </p:bgPr>
    </p:bg>
    <p:spTree>
      <p:nvGrpSpPr>
        <p:cNvPr id="1" name=""/>
        <p:cNvGrpSpPr/>
        <p:nvPr/>
      </p:nvGrpSpPr>
      <p:grpSpPr>
        <a:xfrm>
          <a:off x="0" y="0"/>
          <a:ext cx="0" cy="0"/>
          <a:chOff x="0" y="0"/>
          <a:chExt cx="0" cy="0"/>
        </a:xfrm>
      </p:grpSpPr>
      <p:sp>
        <p:nvSpPr>
          <p:cNvPr id="2" name="TextBox 1"/>
          <p:cNvSpPr txBox="1"/>
          <p:nvPr/>
        </p:nvSpPr>
        <p:spPr>
          <a:xfrm>
            <a:off x="381000" y="152400"/>
            <a:ext cx="10795000" cy="261610"/>
          </a:xfrm>
          <a:prstGeom prst="rect">
            <a:avLst/>
          </a:prstGeom>
          <a:noFill/>
        </p:spPr>
        <p:txBody>
          <a:bodyPr vert="horz" rtlCol="0">
            <a:spAutoFit/>
          </a:bodyPr>
          <a:lstStyle/>
          <a:p>
            <a:r>
              <a:rPr lang="en-US" sz="1100" smtClean="0">
                <a:solidFill>
                  <a:srgbClr val="5EEAD4"/>
                </a:solidFill>
                <a:latin typeface="Segoe UI" panose="020B0502040204020203" pitchFamily="34" charset="0"/>
              </a:rPr>
              <a:t>EVENTSPROJECT  /  MODULE TACHE</a:t>
            </a:r>
            <a:endParaRPr lang="en-US" sz="1100">
              <a:solidFill>
                <a:srgbClr val="5EEAD4"/>
              </a:solidFill>
              <a:latin typeface="Segoe UI" panose="020B0502040204020203" pitchFamily="34" charset="0"/>
            </a:endParaRPr>
          </a:p>
        </p:txBody>
      </p:sp>
      <p:sp>
        <p:nvSpPr>
          <p:cNvPr id="3" name="TextBox 2"/>
          <p:cNvSpPr txBox="1"/>
          <p:nvPr/>
        </p:nvSpPr>
        <p:spPr>
          <a:xfrm>
            <a:off x="381000" y="533400"/>
            <a:ext cx="11430000" cy="523220"/>
          </a:xfrm>
          <a:prstGeom prst="rect">
            <a:avLst/>
          </a:prstGeom>
          <a:noFill/>
        </p:spPr>
        <p:txBody>
          <a:bodyPr vert="horz" rtlCol="0">
            <a:spAutoFit/>
          </a:bodyPr>
          <a:lstStyle/>
          <a:p>
            <a:r>
              <a:rPr lang="fr-FR" sz="2800" smtClean="0">
                <a:solidFill>
                  <a:srgbClr val="FFFFFF"/>
                </a:solidFill>
                <a:latin typeface="Segoe UI" panose="020B0502040204020203" pitchFamily="34" charset="0"/>
              </a:rPr>
              <a:t>La suite : rétablir puis automatiser</a:t>
            </a:r>
            <a:endParaRPr lang="en-US" sz="2800">
              <a:solidFill>
                <a:srgbClr val="FFFFFF"/>
              </a:solidFill>
              <a:latin typeface="Segoe UI" panose="020B0502040204020203" pitchFamily="34" charset="0"/>
            </a:endParaRPr>
          </a:p>
        </p:txBody>
      </p:sp>
      <p:sp>
        <p:nvSpPr>
          <p:cNvPr id="4" name="TextBox 3"/>
          <p:cNvSpPr txBox="1"/>
          <p:nvPr/>
        </p:nvSpPr>
        <p:spPr>
          <a:xfrm>
            <a:off x="381000" y="1244600"/>
            <a:ext cx="11430000" cy="338554"/>
          </a:xfrm>
          <a:prstGeom prst="rect">
            <a:avLst/>
          </a:prstGeom>
          <a:noFill/>
        </p:spPr>
        <p:txBody>
          <a:bodyPr vert="horz" rtlCol="0">
            <a:spAutoFit/>
          </a:bodyPr>
          <a:lstStyle/>
          <a:p>
            <a:r>
              <a:rPr lang="fr-FR" sz="1600" smtClean="0">
                <a:solidFill>
                  <a:srgbClr val="E1E1E1"/>
                </a:solidFill>
                <a:latin typeface="Segoe UI" panose="020B0502040204020203" pitchFamily="34" charset="0"/>
              </a:rPr>
              <a:t>Un résultat n'est validé qu'avec une exécution et une preuve.</a:t>
            </a:r>
            <a:endParaRPr lang="en-US" sz="1600">
              <a:solidFill>
                <a:srgbClr val="E1E1E1"/>
              </a:solidFill>
              <a:latin typeface="Segoe UI" panose="020B0502040204020203" pitchFamily="34" charset="0"/>
            </a:endParaRPr>
          </a:p>
        </p:txBody>
      </p:sp>
      <p:sp>
        <p:nvSpPr>
          <p:cNvPr id="5" name="TextBox 4"/>
          <p:cNvSpPr txBox="1"/>
          <p:nvPr/>
        </p:nvSpPr>
        <p:spPr>
          <a:xfrm>
            <a:off x="11582400" y="6438900"/>
            <a:ext cx="381000" cy="246221"/>
          </a:xfrm>
          <a:prstGeom prst="rect">
            <a:avLst/>
          </a:prstGeom>
          <a:noFill/>
        </p:spPr>
        <p:txBody>
          <a:bodyPr vert="horz" rtlCol="0">
            <a:spAutoFit/>
          </a:bodyPr>
          <a:lstStyle/>
          <a:p>
            <a:r>
              <a:rPr lang="en-US" sz="1000" smtClean="0">
                <a:solidFill>
                  <a:srgbClr val="E1E1E1"/>
                </a:solidFill>
                <a:latin typeface="Segoe UI" panose="020B0502040204020203" pitchFamily="34" charset="0"/>
              </a:rPr>
              <a:t>7</a:t>
            </a:r>
            <a:endParaRPr lang="en-US" sz="1000">
              <a:solidFill>
                <a:srgbClr val="E1E1E1"/>
              </a:solidFill>
              <a:latin typeface="Segoe UI" panose="020B0502040204020203" pitchFamily="34" charset="0"/>
            </a:endParaRPr>
          </a:p>
        </p:txBody>
      </p:sp>
      <p:sp>
        <p:nvSpPr>
          <p:cNvPr id="6" name="TextBox 5"/>
          <p:cNvSpPr txBox="1"/>
          <p:nvPr/>
        </p:nvSpPr>
        <p:spPr>
          <a:xfrm>
            <a:off x="571500" y="2222500"/>
            <a:ext cx="11049000" cy="830997"/>
          </a:xfrm>
          <a:prstGeom prst="rect">
            <a:avLst/>
          </a:prstGeom>
          <a:noFill/>
        </p:spPr>
        <p:txBody>
          <a:bodyPr vert="horz" rtlCol="0">
            <a:spAutoFit/>
          </a:bodyPr>
          <a:lstStyle/>
          <a:p>
            <a:r>
              <a:rPr lang="fr-FR" sz="2400" smtClean="0">
                <a:solidFill>
                  <a:srgbClr val="5EEAD4"/>
                </a:solidFill>
                <a:latin typeface="Segoe UI" panose="020B0502040204020203" pitchFamily="34" charset="0"/>
              </a:rPr>
              <a:t>VALIDÉ
Branche · compilation · diagnostic · preuves</a:t>
            </a:r>
            <a:endParaRPr lang="en-US" sz="2400">
              <a:solidFill>
                <a:srgbClr val="5EEAD4"/>
              </a:solidFill>
              <a:latin typeface="Segoe UI" panose="020B0502040204020203" pitchFamily="34" charset="0"/>
            </a:endParaRPr>
          </a:p>
        </p:txBody>
      </p:sp>
      <p:sp>
        <p:nvSpPr>
          <p:cNvPr id="7" name="TextBox 6"/>
          <p:cNvSpPr txBox="1"/>
          <p:nvPr/>
        </p:nvSpPr>
        <p:spPr>
          <a:xfrm>
            <a:off x="571500" y="3556000"/>
            <a:ext cx="11049000" cy="830997"/>
          </a:xfrm>
          <a:prstGeom prst="rect">
            <a:avLst/>
          </a:prstGeom>
          <a:noFill/>
        </p:spPr>
        <p:txBody>
          <a:bodyPr vert="horz" rtlCol="0">
            <a:spAutoFit/>
          </a:bodyPr>
          <a:lstStyle/>
          <a:p>
            <a:r>
              <a:rPr lang="fr-FR" sz="2400" smtClean="0">
                <a:solidFill>
                  <a:srgbClr val="FFFFFF"/>
                </a:solidFill>
                <a:latin typeface="Segoe UI" panose="020B0502040204020203" pitchFamily="34" charset="0"/>
              </a:rPr>
              <a:t>À CORRIGER
Connexion MySQL et fonctionnement de l''API</a:t>
            </a:r>
            <a:endParaRPr lang="en-US" sz="2400">
              <a:solidFill>
                <a:srgbClr val="FFFFFF"/>
              </a:solidFill>
              <a:latin typeface="Segoe UI" panose="020B0502040204020203" pitchFamily="34" charset="0"/>
            </a:endParaRPr>
          </a:p>
        </p:txBody>
      </p:sp>
      <p:sp>
        <p:nvSpPr>
          <p:cNvPr id="8" name="TextBox 7"/>
          <p:cNvSpPr txBox="1"/>
          <p:nvPr/>
        </p:nvSpPr>
        <p:spPr>
          <a:xfrm>
            <a:off x="571500" y="4889500"/>
            <a:ext cx="11049000" cy="830997"/>
          </a:xfrm>
          <a:prstGeom prst="rect">
            <a:avLst/>
          </a:prstGeom>
          <a:noFill/>
        </p:spPr>
        <p:txBody>
          <a:bodyPr vert="horz" rtlCol="0">
            <a:spAutoFit/>
          </a:bodyPr>
          <a:lstStyle/>
          <a:p>
            <a:r>
              <a:rPr lang="fr-FR" sz="2400" smtClean="0">
                <a:solidFill>
                  <a:srgbClr val="E1E1E1"/>
                </a:solidFill>
                <a:latin typeface="Segoe UI" panose="020B0502040204020203" pitchFamily="34" charset="0"/>
              </a:rPr>
              <a:t>ENSUITE
Rôles Tache → tests et logs → chaîne CI/CD</a:t>
            </a:r>
            <a:endParaRPr lang="en-US" sz="2400">
              <a:solidFill>
                <a:srgbClr val="E1E1E1"/>
              </a:solidFill>
              <a:latin typeface="Segoe UI" panose="020B0502040204020203" pitchFamily="34" charset="0"/>
            </a:endParaRPr>
          </a:p>
        </p:txBody>
      </p:sp>
    </p:spTree>
    <p:extLst>
      <p:ext uri="{BB962C8B-B14F-4D97-AF65-F5344CB8AC3E}">
        <p14:creationId xmlns:p14="http://schemas.microsoft.com/office/powerpoint/2010/main" val="36600787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507</Words>
  <Application>Microsoft Office PowerPoint</Application>
  <PresentationFormat>Custom</PresentationFormat>
  <Paragraphs>53</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Calibri Light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Ayyoub</dc:creator>
  <cp:lastModifiedBy>Ayyoub</cp:lastModifiedBy>
  <cp:revision>1</cp:revision>
  <dcterms:created xsi:type="dcterms:W3CDTF">2026-10-29T08:08:21Z</dcterms:created>
  <dcterms:modified xsi:type="dcterms:W3CDTF">2026-10-29T08:08:21Z</dcterms:modified>
</cp:coreProperties>
</file>