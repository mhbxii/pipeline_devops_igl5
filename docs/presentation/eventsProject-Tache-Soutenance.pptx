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BF7246-F93F-4AE9-95D0-0C38BA7FD65C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A6F9F-2EAF-4961-BE38-AD91FC779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254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84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85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652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5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09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4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85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632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9505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187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288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06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969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826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945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761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779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3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500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3936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502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9077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9066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636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241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44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0752-9306-4293-9D52-F4E0451560E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5A9C4-4DE5-43FC-852B-E1AA3DC9D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5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0752-9306-4293-9D52-F4E0451560E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5A9C4-4DE5-43FC-852B-E1AA3DC9D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95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0752-9306-4293-9D52-F4E0451560E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5A9C4-4DE5-43FC-852B-E1AA3DC9D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612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0752-9306-4293-9D52-F4E0451560E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5A9C4-4DE5-43FC-852B-E1AA3DC9D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48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0752-9306-4293-9D52-F4E0451560E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5A9C4-4DE5-43FC-852B-E1AA3DC9D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774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0752-9306-4293-9D52-F4E0451560E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5A9C4-4DE5-43FC-852B-E1AA3DC9D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126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0752-9306-4293-9D52-F4E0451560E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5A9C4-4DE5-43FC-852B-E1AA3DC9D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58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0752-9306-4293-9D52-F4E0451560E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5A9C4-4DE5-43FC-852B-E1AA3DC9D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636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0752-9306-4293-9D52-F4E0451560E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5A9C4-4DE5-43FC-852B-E1AA3DC9D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79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0752-9306-4293-9D52-F4E0451560E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5A9C4-4DE5-43FC-852B-E1AA3DC9D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67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0752-9306-4293-9D52-F4E0451560E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5A9C4-4DE5-43FC-852B-E1AA3DC9D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16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10752-9306-4293-9D52-F4E0451560E9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5A9C4-4DE5-43FC-852B-E1AA3DC9D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66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SOUTENANCE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55D9C1"/>
                </a:solidFill>
                <a:latin typeface="Segoe UI" panose="020B0502040204020203" pitchFamily="34" charset="0"/>
              </a:rPr>
              <a:t>VÉRIFIÉ AU 31/10/2026</a:t>
            </a:r>
            <a:endParaRPr lang="en-US" sz="1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1612899"/>
            <a:ext cx="64770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5400" b="1" smtClean="0">
                <a:solidFill>
                  <a:srgbClr val="F6F8FC"/>
                </a:solidFill>
                <a:latin typeface="Segoe UI" panose="020B0502040204020203" pitchFamily="34" charset="0"/>
              </a:rPr>
              <a:t>eventsProject</a:t>
            </a:r>
            <a:endParaRPr lang="en-US" sz="54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46100" y="2857499"/>
            <a:ext cx="5969000" cy="142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600" smtClean="0">
                <a:solidFill>
                  <a:srgbClr val="B7C8DC"/>
                </a:solidFill>
                <a:latin typeface="Segoe UI" panose="020B0502040204020203" pitchFamily="34" charset="0"/>
              </a:rPr>
              <a:t>Gestion des rôles Participant et chaîne DevOps vers AWS EKS.</a:t>
            </a:r>
            <a:endParaRPr lang="en-US" sz="26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13600" y="1854200"/>
            <a:ext cx="2171700" cy="13970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etric-6"/>
          <p:cNvSpPr txBox="1"/>
          <p:nvPr/>
        </p:nvSpPr>
        <p:spPr>
          <a:xfrm>
            <a:off x="7416800" y="1981199"/>
            <a:ext cx="18415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 smtClean="0">
                <a:solidFill>
                  <a:srgbClr val="55D9C1"/>
                </a:solidFill>
                <a:latin typeface="Segoe UI" panose="020B0502040204020203" pitchFamily="34" charset="0"/>
              </a:rPr>
              <a:t>52</a:t>
            </a:r>
            <a:endParaRPr lang="en-US" sz="35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MetricLabel-7"/>
          <p:cNvSpPr txBox="1"/>
          <p:nvPr/>
        </p:nvSpPr>
        <p:spPr>
          <a:xfrm>
            <a:off x="7416800" y="2717799"/>
            <a:ext cx="18415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F6F8FC"/>
                </a:solidFill>
                <a:latin typeface="Segoe UI" panose="020B0502040204020203" pitchFamily="34" charset="0"/>
              </a:rPr>
              <a:t>tests réussis</a:t>
            </a:r>
            <a:endParaRPr lang="en-US" sz="140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512300" y="1854200"/>
            <a:ext cx="2171700" cy="13970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etric-9"/>
          <p:cNvSpPr txBox="1"/>
          <p:nvPr/>
        </p:nvSpPr>
        <p:spPr>
          <a:xfrm>
            <a:off x="9715500" y="1981199"/>
            <a:ext cx="18415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 smtClean="0">
                <a:solidFill>
                  <a:srgbClr val="55D9C1"/>
                </a:solidFill>
                <a:latin typeface="Segoe UI" panose="020B0502040204020203" pitchFamily="34" charset="0"/>
              </a:rPr>
              <a:t>#15</a:t>
            </a:r>
            <a:endParaRPr lang="en-US" sz="35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MetricLabel-10"/>
          <p:cNvSpPr txBox="1"/>
          <p:nvPr/>
        </p:nvSpPr>
        <p:spPr>
          <a:xfrm>
            <a:off x="9715500" y="2717799"/>
            <a:ext cx="18415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F6F8FC"/>
                </a:solidFill>
                <a:latin typeface="Segoe UI" panose="020B0502040204020203" pitchFamily="34" charset="0"/>
              </a:rPr>
              <a:t>Jenkins SUCCESS</a:t>
            </a:r>
            <a:endParaRPr lang="en-US" sz="140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213600" y="3403600"/>
            <a:ext cx="2171700" cy="13970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etric-12"/>
          <p:cNvSpPr txBox="1"/>
          <p:nvPr/>
        </p:nvSpPr>
        <p:spPr>
          <a:xfrm>
            <a:off x="7416800" y="3530599"/>
            <a:ext cx="18415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 smtClean="0">
                <a:solidFill>
                  <a:srgbClr val="55D9C1"/>
                </a:solidFill>
                <a:latin typeface="Segoe UI" panose="020B0502040204020203" pitchFamily="34" charset="0"/>
              </a:rPr>
              <a:t>72,3 %</a:t>
            </a:r>
            <a:endParaRPr lang="en-US" sz="35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MetricLabel-13"/>
          <p:cNvSpPr txBox="1"/>
          <p:nvPr/>
        </p:nvSpPr>
        <p:spPr>
          <a:xfrm>
            <a:off x="7416800" y="4267199"/>
            <a:ext cx="18415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F6F8FC"/>
                </a:solidFill>
                <a:latin typeface="Segoe UI" panose="020B0502040204020203" pitchFamily="34" charset="0"/>
              </a:rPr>
              <a:t>couverture des lignes</a:t>
            </a:r>
            <a:endParaRPr lang="en-US" sz="140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512300" y="3403600"/>
            <a:ext cx="2171700" cy="13970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etric-15"/>
          <p:cNvSpPr txBox="1"/>
          <p:nvPr/>
        </p:nvSpPr>
        <p:spPr>
          <a:xfrm>
            <a:off x="9715500" y="3530599"/>
            <a:ext cx="18415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 smtClean="0">
                <a:solidFill>
                  <a:srgbClr val="55D9C1"/>
                </a:solidFill>
                <a:latin typeface="Segoe UI" panose="020B0502040204020203" pitchFamily="34" charset="0"/>
              </a:rPr>
              <a:t>0</a:t>
            </a:r>
            <a:endParaRPr lang="en-US" sz="35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MetricLabel-16"/>
          <p:cNvSpPr txBox="1"/>
          <p:nvPr/>
        </p:nvSpPr>
        <p:spPr>
          <a:xfrm>
            <a:off x="9715500" y="4267199"/>
            <a:ext cx="18415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F6F8FC"/>
                </a:solidFill>
                <a:latin typeface="Segoe UI" panose="020B0502040204020203" pitchFamily="34" charset="0"/>
              </a:rPr>
              <a:t>bug Sonar</a:t>
            </a:r>
            <a:endParaRPr lang="en-US" sz="140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8000" y="5283200"/>
            <a:ext cx="11176000" cy="6858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verState-18"/>
          <p:cNvSpPr txBox="1"/>
          <p:nvPr/>
        </p:nvSpPr>
        <p:spPr>
          <a:xfrm>
            <a:off x="711200" y="5460999"/>
            <a:ext cx="107950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700" smtClean="0">
                <a:solidFill>
                  <a:srgbClr val="F4BF67"/>
                </a:solidFill>
                <a:latin typeface="Segoe UI" panose="020B0502040204020203" pitchFamily="34" charset="0"/>
              </a:rPr>
              <a:t>Release vérifiée • Pipeline unique vers EKS • Réactivation du Learner Lab requise</a:t>
            </a:r>
            <a:endParaRPr lang="en-US" sz="1700">
              <a:solidFill>
                <a:srgbClr val="F4BF67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EvidenceSource-19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850" smtClean="0">
                <a:solidFill>
                  <a:srgbClr val="B7C8DC"/>
                </a:solidFill>
                <a:latin typeface="Segoe UI" panose="020B0502040204020203" pitchFamily="34" charset="0"/>
              </a:rPr>
              <a:t>État vérifié le 31 octobre 2026 • Source testée : 8a5a96f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PageNumber-20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1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05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APPLICATION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55D9C1"/>
                </a:solidFill>
                <a:latin typeface="Segoe UI" panose="020B0502040204020203" pitchFamily="34" charset="0"/>
              </a:rPr>
              <a:t>VÉRIFIÉ AU 31/10/2026</a:t>
            </a:r>
            <a:endParaRPr lang="en-US" sz="1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Un périmètre métier précis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Tache décrit le rôle d'un participant dans un événement. Le modèle partagé du projet est conservé.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8000" y="2362200"/>
            <a:ext cx="3589867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Title-6"/>
          <p:cNvSpPr txBox="1"/>
          <p:nvPr/>
        </p:nvSpPr>
        <p:spPr>
          <a:xfrm>
            <a:off x="711200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Un enum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ardBody-7"/>
          <p:cNvSpPr txBox="1"/>
          <p:nvPr/>
        </p:nvSpPr>
        <p:spPr>
          <a:xfrm>
            <a:off x="711200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INVITE, ORGANISATEUR, SERVEUR et ANIMATEUR.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01067" y="2362200"/>
            <a:ext cx="3589866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rdTitle-9"/>
          <p:cNvSpPr txBox="1"/>
          <p:nvPr/>
        </p:nvSpPr>
        <p:spPr>
          <a:xfrm>
            <a:off x="4504267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Un participant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ardBody-10"/>
          <p:cNvSpPr txBox="1"/>
          <p:nvPr/>
        </p:nvSpPr>
        <p:spPr>
          <a:xfrm>
            <a:off x="4504267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Lire, affecter, remplacer ou retirer son rôle sans supprimer le participant.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4133" y="2362200"/>
            <a:ext cx="3589867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rdTitle-12"/>
          <p:cNvSpPr txBox="1"/>
          <p:nvPr/>
        </p:nvSpPr>
        <p:spPr>
          <a:xfrm>
            <a:off x="8297333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Un module intégré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CardBody-13"/>
          <p:cNvSpPr txBox="1"/>
          <p:nvPr/>
        </p:nvSpPr>
        <p:spPr>
          <a:xfrm>
            <a:off x="8297333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Contrôleurs, services et repositories existants ; aucune entité de tâche indépendante.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EvidenceSource-14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smtClean="0">
                <a:solidFill>
                  <a:srgbClr val="B7C8DC"/>
                </a:solidFill>
                <a:latin typeface="Segoe UI" panose="020B0502040204020203" pitchFamily="34" charset="0"/>
              </a:rPr>
              <a:t>entities/Tache.java • services/TacheService.java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PageNumber-15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2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667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ARCHITECTURE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55D9C1"/>
                </a:solidFill>
                <a:latin typeface="Segoe UI" panose="020B0502040204020203" pitchFamily="34" charset="0"/>
              </a:rPr>
              <a:t>VÉRIFIÉ AU 31/10/2026</a:t>
            </a:r>
            <a:endParaRPr lang="en-US" sz="1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Du code au déploiement EKS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Jenkins, SonarQube et Nexus restent locaux ; la destination Kubernetes du pipeline unique est AWS EKS.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8000" y="2362200"/>
            <a:ext cx="3589867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Title-6"/>
          <p:cNvSpPr txBox="1"/>
          <p:nvPr/>
        </p:nvSpPr>
        <p:spPr>
          <a:xfrm>
            <a:off x="711200" y="25272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1 · GitHub / Tache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ardBody-7"/>
          <p:cNvSpPr txBox="1"/>
          <p:nvPr/>
        </p:nvSpPr>
        <p:spPr>
          <a:xfrm>
            <a:off x="711200" y="31876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Source versionnée et checkout du commit.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01067" y="2362200"/>
            <a:ext cx="3589866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rdTitle-9"/>
          <p:cNvSpPr txBox="1"/>
          <p:nvPr/>
        </p:nvSpPr>
        <p:spPr>
          <a:xfrm>
            <a:off x="4504267" y="25272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2 · Jenkins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ardBody-10"/>
          <p:cNvSpPr txBox="1"/>
          <p:nvPr/>
        </p:nvSpPr>
        <p:spPr>
          <a:xfrm>
            <a:off x="4504267" y="31876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Compilation, tests et rapports JaCoCo.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4133" y="2362200"/>
            <a:ext cx="3589867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rdTitle-12"/>
          <p:cNvSpPr txBox="1"/>
          <p:nvPr/>
        </p:nvSpPr>
        <p:spPr>
          <a:xfrm>
            <a:off x="8297333" y="25272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3 · SonarQube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CardBody-13"/>
          <p:cNvSpPr txBox="1"/>
          <p:nvPr/>
        </p:nvSpPr>
        <p:spPr>
          <a:xfrm>
            <a:off x="8297333" y="31876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Analyse et quality gate bloquant.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8000" y="4279900"/>
            <a:ext cx="3589867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ardTitle-15"/>
          <p:cNvSpPr txBox="1"/>
          <p:nvPr/>
        </p:nvSpPr>
        <p:spPr>
          <a:xfrm>
            <a:off x="711200" y="44449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4 · Terraform AWS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CardBody-16"/>
          <p:cNvSpPr txBox="1"/>
          <p:nvPr/>
        </p:nvSpPr>
        <p:spPr>
          <a:xfrm>
            <a:off x="711200" y="51053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Plan puis apply optionnel après revue.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301067" y="4279900"/>
            <a:ext cx="3589866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rdTitle-18"/>
          <p:cNvSpPr txBox="1"/>
          <p:nvPr/>
        </p:nvSpPr>
        <p:spPr>
          <a:xfrm>
            <a:off x="4504267" y="44449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5 · Nexus / Docker Hub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CardBody-19"/>
          <p:cNvSpPr txBox="1"/>
          <p:nvPr/>
        </p:nvSpPr>
        <p:spPr>
          <a:xfrm>
            <a:off x="4504267" y="51053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JAR et image publiés et vérifiés.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94133" y="4279900"/>
            <a:ext cx="3589867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ardTitle-21"/>
          <p:cNvSpPr txBox="1"/>
          <p:nvPr/>
        </p:nvSpPr>
        <p:spPr>
          <a:xfrm>
            <a:off x="8297333" y="44449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6 · AWS EKS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CardBody-22"/>
          <p:cNvSpPr txBox="1"/>
          <p:nvPr/>
        </p:nvSpPr>
        <p:spPr>
          <a:xfrm>
            <a:off x="8297333" y="51053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Rollout et HTTP après réactivation du lab.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EvidenceSource-23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850" smtClean="0">
                <a:solidFill>
                  <a:srgbClr val="B7C8DC"/>
                </a:solidFill>
                <a:latin typeface="Segoe UI" panose="020B0502040204020203" pitchFamily="34" charset="0"/>
              </a:rPr>
              <a:t>Jenkinsfile • Étapes AWS désactivées dans le build #15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PageNumber-24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3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774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MODÈLE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55D9C1"/>
                </a:solidFill>
                <a:latin typeface="Segoe UI" panose="020B0502040204020203" pitchFamily="34" charset="0"/>
              </a:rPr>
              <a:t>VÉRIFIÉ AU 31/10/2026</a:t>
            </a:r>
            <a:endParaRPr lang="en-US" sz="1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Persister un rôle, conserver le modèle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Le rôle reste une valeur de Participant, enregistrée en chaîne dans MySQL.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8000" y="2362200"/>
            <a:ext cx="7188200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de-6"/>
          <p:cNvSpPr txBox="1"/>
          <p:nvPr/>
        </p:nvSpPr>
        <p:spPr>
          <a:xfrm>
            <a:off x="736600" y="2578099"/>
            <a:ext cx="6731000" cy="318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550" smtClean="0">
                <a:solidFill>
                  <a:srgbClr val="F6F8FC"/>
                </a:solidFill>
                <a:latin typeface="Consolas" panose="020B0609020204030204" pitchFamily="49" charset="0"/>
              </a:rPr>
              <a:t>public enum Tache {
    INVITE, ORGANISATEUR,
    SERVEUR, ANIMATEUR
}
// Participant.java
@Enumerated(EnumType.STRING)
Tache tache;</a:t>
            </a:r>
            <a:endParaRPr lang="en-US" sz="1550">
              <a:solidFill>
                <a:srgbClr val="F6F8FC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24800" y="2362200"/>
            <a:ext cx="3759200" cy="1727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rdTitle-8"/>
          <p:cNvSpPr txBox="1"/>
          <p:nvPr/>
        </p:nvSpPr>
        <p:spPr>
          <a:xfrm>
            <a:off x="8128000" y="2527299"/>
            <a:ext cx="33528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Lisibilité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CardBody-9"/>
          <p:cNvSpPr txBox="1"/>
          <p:nvPr/>
        </p:nvSpPr>
        <p:spPr>
          <a:xfrm>
            <a:off x="8128000" y="3187699"/>
            <a:ext cx="335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La base contient le nom du rôle, pas sa position dans l'enum.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24800" y="4267200"/>
            <a:ext cx="3759200" cy="1727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rdTitle-11"/>
          <p:cNvSpPr txBox="1"/>
          <p:nvPr/>
        </p:nvSpPr>
        <p:spPr>
          <a:xfrm>
            <a:off x="8128000" y="4432299"/>
            <a:ext cx="33528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Intégrité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CardBody-12"/>
          <p:cNvSpPr txBox="1"/>
          <p:nvPr/>
        </p:nvSpPr>
        <p:spPr>
          <a:xfrm>
            <a:off x="8128000" y="5092699"/>
            <a:ext cx="335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Le participant existe avant toute affectation ; les valeurs inconnues sont rejetées.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EvidenceSource-13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smtClean="0">
                <a:solidFill>
                  <a:srgbClr val="B7C8DC"/>
                </a:solidFill>
                <a:latin typeface="Segoe UI" panose="020B0502040204020203" pitchFamily="34" charset="0"/>
              </a:rPr>
              <a:t>entities/Tache.java • entities/Participant.java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PageNumber-14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4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935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API MÉTIER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55D9C1"/>
                </a:solidFill>
                <a:latin typeface="Segoe UI" panose="020B0502040204020203" pitchFamily="34" charset="0"/>
              </a:rPr>
              <a:t>VÉRIFIÉ AU 31/10/2026</a:t>
            </a:r>
            <a:endParaRPr lang="en-US" sz="1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Un cycle de rôle vérifié par HTTP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Le JAR et l'image finale ont été testés contre le MySQL dédié, en complément des tests automatisés.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8000" y="2362200"/>
            <a:ext cx="3589867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Title-6"/>
          <p:cNvSpPr txBox="1"/>
          <p:nvPr/>
        </p:nvSpPr>
        <p:spPr>
          <a:xfrm>
            <a:off x="711200" y="25272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GET /taches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ardBody-7"/>
          <p:cNvSpPr txBox="1"/>
          <p:nvPr/>
        </p:nvSpPr>
        <p:spPr>
          <a:xfrm>
            <a:off x="711200" y="31876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Consulter les quatre rôles possibles.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01067" y="2362200"/>
            <a:ext cx="3589866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rdTitle-9"/>
          <p:cNvSpPr txBox="1"/>
          <p:nvPr/>
        </p:nvSpPr>
        <p:spPr>
          <a:xfrm>
            <a:off x="4504267" y="25272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POST /event/addPart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ardBody-10"/>
          <p:cNvSpPr txBox="1"/>
          <p:nvPr/>
        </p:nvSpPr>
        <p:spPr>
          <a:xfrm>
            <a:off x="4504267" y="31876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Créer un participant avec un ID généré.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4133" y="2362200"/>
            <a:ext cx="3589867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rdTitle-12"/>
          <p:cNvSpPr txBox="1"/>
          <p:nvPr/>
        </p:nvSpPr>
        <p:spPr>
          <a:xfrm>
            <a:off x="8297333" y="25272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PUT /taches/participants/{id}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CardBody-13"/>
          <p:cNvSpPr txBox="1"/>
          <p:nvPr/>
        </p:nvSpPr>
        <p:spPr>
          <a:xfrm>
            <a:off x="8297333" y="31876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Affecter ou remplacer le rôle.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8000" y="4279900"/>
            <a:ext cx="3589867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ardTitle-15"/>
          <p:cNvSpPr txBox="1"/>
          <p:nvPr/>
        </p:nvSpPr>
        <p:spPr>
          <a:xfrm>
            <a:off x="711200" y="44449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GET /taches/participants/{id}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CardBody-16"/>
          <p:cNvSpPr txBox="1"/>
          <p:nvPr/>
        </p:nvSpPr>
        <p:spPr>
          <a:xfrm>
            <a:off x="711200" y="51053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Relire le rôle réellement persisté.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301067" y="4279900"/>
            <a:ext cx="3589866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rdTitle-18"/>
          <p:cNvSpPr txBox="1"/>
          <p:nvPr/>
        </p:nvSpPr>
        <p:spPr>
          <a:xfrm>
            <a:off x="4504267" y="44449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DELETE /taches/participants/{id}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CardBody-19"/>
          <p:cNvSpPr txBox="1"/>
          <p:nvPr/>
        </p:nvSpPr>
        <p:spPr>
          <a:xfrm>
            <a:off x="4504267" y="51053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Retirer le rôle ; réponse HTTP 204.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94133" y="4279900"/>
            <a:ext cx="3589867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ardTitle-21"/>
          <p:cNvSpPr txBox="1"/>
          <p:nvPr/>
        </p:nvSpPr>
        <p:spPr>
          <a:xfrm>
            <a:off x="8297333" y="44449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Le participant reste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CardBody-22"/>
          <p:cNvSpPr txBox="1"/>
          <p:nvPr/>
        </p:nvSpPr>
        <p:spPr>
          <a:xfrm>
            <a:off x="8297333" y="51053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Le retrait du rôle ne supprime pas sa fiche.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EvidenceSource-23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smtClean="0">
                <a:solidFill>
                  <a:srgbClr val="B7C8DC"/>
                </a:solidFill>
                <a:latin typeface="Segoe UI" panose="020B0502040204020203" pitchFamily="34" charset="0"/>
              </a:rPr>
              <a:t>16-readiness/final-baseline-readiness.json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PageNumber-24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5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040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DTO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55D9C1"/>
                </a:solidFill>
                <a:latin typeface="Segoe UI" panose="020B0502040204020203" pitchFamily="34" charset="0"/>
              </a:rPr>
              <a:t>VÉRIFIÉ AU 31/10/2026</a:t>
            </a:r>
            <a:endParaRPr lang="en-US" sz="1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Limiter les champs reçus par l'API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Les DTO de requête définissent les champs modifiables. Les relations entrantes acceptent uniquement des IDs positifs.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8000" y="2362200"/>
            <a:ext cx="7188200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de-6"/>
          <p:cNvSpPr txBox="1"/>
          <p:nvPr/>
        </p:nvSpPr>
        <p:spPr>
          <a:xfrm>
            <a:off x="736600" y="2578099"/>
            <a:ext cx="6731000" cy="318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50" smtClean="0">
                <a:solidFill>
                  <a:srgbClr val="F6F8FC"/>
                </a:solidFill>
                <a:latin typeface="Consolas" panose="020B0609020204030204" pitchFamily="49" charset="0"/>
              </a:rPr>
              <a:t>@Getter
@Setter
public class RoleRequest {
    private Tache tache;
}
// Le participant vient du chemin HTTP :
service.assignRole(id, request.getTache());</a:t>
            </a:r>
            <a:endParaRPr lang="en-US" sz="1550">
              <a:solidFill>
                <a:srgbClr val="F6F8FC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24800" y="2362200"/>
            <a:ext cx="3759200" cy="1727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rdTitle-8"/>
          <p:cNvSpPr txBox="1"/>
          <p:nvPr/>
        </p:nvSpPr>
        <p:spPr>
          <a:xfrm>
            <a:off x="8128000" y="2527299"/>
            <a:ext cx="33528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Créations protégées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CardBody-9"/>
          <p:cNvSpPr txBox="1"/>
          <p:nvPr/>
        </p:nvSpPr>
        <p:spPr>
          <a:xfrm>
            <a:off x="8128000" y="3187699"/>
            <a:ext cx="335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 smtClean="0">
                <a:solidFill>
                  <a:srgbClr val="F6F8FC"/>
                </a:solidFill>
                <a:latin typeface="Segoe UI" panose="020B0502040204020203" pitchFamily="34" charset="0"/>
              </a:rPr>
              <a:t>ParticipantCreateRequest, EventCreateRequest et LogisticsCreateRequest.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24800" y="4267200"/>
            <a:ext cx="3759200" cy="1727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rdTitle-11"/>
          <p:cNvSpPr txBox="1"/>
          <p:nvPr/>
        </p:nvSpPr>
        <p:spPr>
          <a:xfrm>
            <a:off x="8128000" y="4432299"/>
            <a:ext cx="33528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Champs réservés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CardBody-12"/>
          <p:cNvSpPr txBox="1"/>
          <p:nvPr/>
        </p:nvSpPr>
        <p:spPr>
          <a:xfrm>
            <a:off x="8128000" y="5092699"/>
            <a:ext cx="335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Un client ne peut imposer l'ID généré ni le coût calculé.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EvidenceSource-13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smtClean="0">
                <a:solidFill>
                  <a:srgbClr val="B7C8DC"/>
                </a:solidFill>
                <a:latin typeface="Segoe UI" panose="020B0502040204020203" pitchFamily="34" charset="0"/>
              </a:rPr>
              <a:t>controllers/dto/RoleRequest.java • EventRequests.java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PageNumber-14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6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156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DTO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55D9C1"/>
                </a:solidFill>
                <a:latin typeface="Segoe UI" panose="020B0502040204020203" pitchFamily="34" charset="0"/>
              </a:rPr>
              <a:t>VÉRIFIÉ AU 31/10/2026</a:t>
            </a:r>
            <a:endParaRPr lang="en-US" sz="1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Des réponses sans graphe JPA récursif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Les DTO de réponse conservent les champs scalaires ; leurs relations exposent des identifiants.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8000" y="2362200"/>
            <a:ext cx="7188200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de-6"/>
          <p:cNvSpPr txBox="1"/>
          <p:nvPr/>
        </p:nvSpPr>
        <p:spPr>
          <a:xfrm>
            <a:off x="736600" y="2578099"/>
            <a:ext cx="6731000" cy="318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550" smtClean="0">
                <a:solidFill>
                  <a:srgbClr val="F6F8FC"/>
                </a:solidFill>
                <a:latin typeface="Consolas" panose="020B0609020204030204" pitchFamily="49" charset="0"/>
              </a:rPr>
              <a:t>{
  "idPart": 7,
  "nom": "Demo",
  "tache": "SERVEUR",
  "events": [{ "idEvent": 10 }]
}
// Rôle : participantId + tache</a:t>
            </a:r>
            <a:endParaRPr lang="en-US" sz="1550">
              <a:solidFill>
                <a:srgbClr val="F6F8FC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24800" y="2362200"/>
            <a:ext cx="3759200" cy="1727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rdTitle-8"/>
          <p:cNvSpPr txBox="1"/>
          <p:nvPr/>
        </p:nvSpPr>
        <p:spPr>
          <a:xfrm>
            <a:off x="8128000" y="2527299"/>
            <a:ext cx="33528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Sérialisation bornée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CardBody-9"/>
          <p:cNvSpPr txBox="1"/>
          <p:nvPr/>
        </p:nvSpPr>
        <p:spPr>
          <a:xfrm>
            <a:off x="8128000" y="3187699"/>
            <a:ext cx="335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Évite Participant → Event → Participant dans les réponses JSON.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24800" y="4267200"/>
            <a:ext cx="3759200" cy="1727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rdTitle-11"/>
          <p:cNvSpPr txBox="1"/>
          <p:nvPr/>
        </p:nvSpPr>
        <p:spPr>
          <a:xfrm>
            <a:off x="8128000" y="4432299"/>
            <a:ext cx="33528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Contrat explicite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CardBody-12"/>
          <p:cNvSpPr txBox="1"/>
          <p:nvPr/>
        </p:nvSpPr>
        <p:spPr>
          <a:xfrm>
            <a:off x="8128000" y="5092699"/>
            <a:ext cx="335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URLs et champs scalaires conservés ; détail imbriqué remplacé par des références ID.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EvidenceSource-13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850" smtClean="0">
                <a:solidFill>
                  <a:srgbClr val="B7C8DC"/>
                </a:solidFill>
                <a:latin typeface="Segoe UI" panose="020B0502040204020203" pitchFamily="34" charset="0"/>
              </a:rPr>
              <a:t>Exemple de JSON conforme au DTO • EventResponses.java • docs/DTO_API.md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PageNumber-14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7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878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VALIDATION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55D9C1"/>
                </a:solidFill>
                <a:latin typeface="Segoe UI" panose="020B0502040204020203" pitchFamily="34" charset="0"/>
              </a:rPr>
              <a:t>VÉRIFIÉ AU 31/10/2026</a:t>
            </a:r>
            <a:endParaRPr lang="en-US" sz="1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Rejeter les erreurs avant la persistance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Le NPE historique sur une référence absente est corrigé ; les erreurs attendues sont contrôlées.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8000" y="2362200"/>
            <a:ext cx="3589867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Title-6"/>
          <p:cNvSpPr txBox="1"/>
          <p:nvPr/>
        </p:nvSpPr>
        <p:spPr>
          <a:xfrm>
            <a:off x="711200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HTTP 400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ardBody-7"/>
          <p:cNvSpPr txBox="1"/>
          <p:nvPr/>
        </p:nvSpPr>
        <p:spPr>
          <a:xfrm>
            <a:off x="711200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Identifiant nul ou négatif, enum inconnu, rôle manquant ou référence invalide.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01067" y="2362200"/>
            <a:ext cx="3589866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rdTitle-9"/>
          <p:cNvSpPr txBox="1"/>
          <p:nvPr/>
        </p:nvSpPr>
        <p:spPr>
          <a:xfrm>
            <a:off x="4504267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HTTP 404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ardBody-10"/>
          <p:cNvSpPr txBox="1"/>
          <p:nvPr/>
        </p:nvSpPr>
        <p:spPr>
          <a:xfrm>
            <a:off x="4504267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Participant absent ou événement introuvable pour l'affectation logistique.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4133" y="2362200"/>
            <a:ext cx="3589867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rdTitle-12"/>
          <p:cNvSpPr txBox="1"/>
          <p:nvPr/>
        </p:nvSpPr>
        <p:spPr>
          <a:xfrm>
            <a:off x="8297333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HTTP 204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CardBody-13"/>
          <p:cNvSpPr txBox="1"/>
          <p:nvPr/>
        </p:nvSpPr>
        <p:spPr>
          <a:xfrm>
            <a:off x="8297333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Retrait du rôle réussi, sans suppression du participant.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EvidenceSource-14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smtClean="0">
                <a:solidFill>
                  <a:srgbClr val="B7C8DC"/>
                </a:solidFill>
                <a:latin typeface="Segoe UI" panose="020B0502040204020203" pitchFamily="34" charset="0"/>
              </a:rPr>
              <a:t>EventReferenceValidationTest • TacheRestControllerTest • HTTP/MySQL réel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PageNumber-15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8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893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TESTS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55D9C1"/>
                </a:solidFill>
                <a:latin typeface="Segoe UI" panose="020B0502040204020203" pitchFamily="34" charset="0"/>
              </a:rPr>
              <a:t>VÉRIFIÉ AU 31/10/2026</a:t>
            </a:r>
            <a:endParaRPr lang="en-US" sz="1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52 tests automatisés réussis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Jenkins #15 : zéro échec, zéro erreur et aucun test ignoré.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45000" y="2362200"/>
            <a:ext cx="7239000" cy="3632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Evidence-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300" y="2463800"/>
            <a:ext cx="5486400" cy="3429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8000" y="2362200"/>
            <a:ext cx="3708400" cy="11557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rdTitle-8"/>
          <p:cNvSpPr txBox="1"/>
          <p:nvPr/>
        </p:nvSpPr>
        <p:spPr>
          <a:xfrm>
            <a:off x="711200" y="2527299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Service / Mockito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CardBody-9"/>
          <p:cNvSpPr txBox="1"/>
          <p:nvPr/>
        </p:nvSpPr>
        <p:spPr>
          <a:xfrm>
            <a:off x="711200" y="2895599"/>
            <a:ext cx="3302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350" smtClean="0">
                <a:solidFill>
                  <a:srgbClr val="F6F8FC"/>
                </a:solidFill>
                <a:latin typeface="Segoe UI" panose="020B0502040204020203" pitchFamily="34" charset="0"/>
              </a:rPr>
              <a:t>Règles de rôle et références manquantes.</a:t>
            </a:r>
            <a:endParaRPr lang="en-US" sz="13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8000" y="3594100"/>
            <a:ext cx="3708400" cy="11557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rdTitle-11"/>
          <p:cNvSpPr txBox="1"/>
          <p:nvPr/>
        </p:nvSpPr>
        <p:spPr>
          <a:xfrm>
            <a:off x="711200" y="3759199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HTTP / DTO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CardBody-12"/>
          <p:cNvSpPr txBox="1"/>
          <p:nvPr/>
        </p:nvSpPr>
        <p:spPr>
          <a:xfrm>
            <a:off x="711200" y="4127499"/>
            <a:ext cx="3302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350" smtClean="0">
                <a:solidFill>
                  <a:srgbClr val="F6F8FC"/>
                </a:solidFill>
                <a:latin typeface="Segoe UI" panose="020B0502040204020203" pitchFamily="34" charset="0"/>
              </a:rPr>
              <a:t>Contrats, allowlists et sérialisation cyclique.</a:t>
            </a:r>
            <a:endParaRPr lang="en-US" sz="13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8000" y="4826000"/>
            <a:ext cx="3708400" cy="11557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rdTitle-14"/>
          <p:cNvSpPr txBox="1"/>
          <p:nvPr/>
        </p:nvSpPr>
        <p:spPr>
          <a:xfrm>
            <a:off x="711200" y="4991099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JPA / H2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ardBody-15"/>
          <p:cNvSpPr txBox="1"/>
          <p:nvPr/>
        </p:nvSpPr>
        <p:spPr>
          <a:xfrm>
            <a:off x="711200" y="5359399"/>
            <a:ext cx="3302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350" smtClean="0">
                <a:solidFill>
                  <a:srgbClr val="F6F8FC"/>
                </a:solidFill>
                <a:latin typeface="Segoe UI" panose="020B0502040204020203" pitchFamily="34" charset="0"/>
              </a:rPr>
              <a:t>Persistance réelle ; MySQL vérifié séparément.</a:t>
            </a:r>
            <a:endParaRPr lang="en-US" sz="13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EvidenceSource-16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850" smtClean="0">
                <a:solidFill>
                  <a:srgbClr val="B7C8DC"/>
                </a:solidFill>
                <a:latin typeface="Segoe UI" panose="020B0502040204020203" pitchFamily="34" charset="0"/>
              </a:rPr>
              <a:t>Jenkins #15 • Rapport JUnit authentique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PageNumber-17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9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661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COUVERTURE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55D9C1"/>
                </a:solidFill>
                <a:latin typeface="Segoe UI" panose="020B0502040204020203" pitchFamily="34" charset="0"/>
              </a:rPr>
              <a:t>VÉRIFIÉ AU 31/10/2026</a:t>
            </a:r>
            <a:endParaRPr lang="en-US" sz="1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JaCoCo : une couverture mesurée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Les rapports HTML et XML sont produits par Maven, archivés dans Jenkins et consommés par SonarQube.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45000" y="2362200"/>
            <a:ext cx="7239000" cy="3632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Evidence-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300" y="2463800"/>
            <a:ext cx="5486400" cy="3429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8000" y="2362200"/>
            <a:ext cx="3708400" cy="11557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rdTitle-8"/>
          <p:cNvSpPr txBox="1"/>
          <p:nvPr/>
        </p:nvSpPr>
        <p:spPr>
          <a:xfrm>
            <a:off x="711200" y="2527299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72,3 %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CardBody-9"/>
          <p:cNvSpPr txBox="1"/>
          <p:nvPr/>
        </p:nvSpPr>
        <p:spPr>
          <a:xfrm>
            <a:off x="711200" y="2895599"/>
            <a:ext cx="3302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 smtClean="0">
                <a:solidFill>
                  <a:srgbClr val="F6F8FC"/>
                </a:solidFill>
                <a:latin typeface="Segoe UI" panose="020B0502040204020203" pitchFamily="34" charset="0"/>
              </a:rPr>
              <a:t>Couverture globale des lignes.</a:t>
            </a:r>
            <a:endParaRPr lang="en-US" sz="13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8000" y="3594100"/>
            <a:ext cx="3708400" cy="11557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rdTitle-11"/>
          <p:cNvSpPr txBox="1"/>
          <p:nvPr/>
        </p:nvSpPr>
        <p:spPr>
          <a:xfrm>
            <a:off x="711200" y="3759199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45,0 %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CardBody-12"/>
          <p:cNvSpPr txBox="1"/>
          <p:nvPr/>
        </p:nvSpPr>
        <p:spPr>
          <a:xfrm>
            <a:off x="711200" y="4127499"/>
            <a:ext cx="3302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 smtClean="0">
                <a:solidFill>
                  <a:srgbClr val="F6F8FC"/>
                </a:solidFill>
                <a:latin typeface="Segoe UI" panose="020B0502040204020203" pitchFamily="34" charset="0"/>
              </a:rPr>
              <a:t>Couverture globale des branches.</a:t>
            </a:r>
            <a:endParaRPr lang="en-US" sz="13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8000" y="4826000"/>
            <a:ext cx="3708400" cy="11557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rdTitle-14"/>
          <p:cNvSpPr txBox="1"/>
          <p:nvPr/>
        </p:nvSpPr>
        <p:spPr>
          <a:xfrm>
            <a:off x="711200" y="4991099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Rapports obligatoires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ardBody-15"/>
          <p:cNvSpPr txBox="1"/>
          <p:nvPr/>
        </p:nvSpPr>
        <p:spPr>
          <a:xfrm>
            <a:off x="711200" y="5359399"/>
            <a:ext cx="3302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350" smtClean="0">
                <a:solidFill>
                  <a:srgbClr val="F6F8FC"/>
                </a:solidFill>
                <a:latin typeface="Segoe UI" panose="020B0502040204020203" pitchFamily="34" charset="0"/>
              </a:rPr>
              <a:t>Le build vérifie la présence des fichiers HTML et XML.</a:t>
            </a:r>
            <a:endParaRPr lang="en-US" sz="13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EvidenceSource-16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smtClean="0">
                <a:solidFill>
                  <a:srgbClr val="B7C8DC"/>
                </a:solidFill>
                <a:latin typeface="Segoe UI" panose="020B0502040204020203" pitchFamily="34" charset="0"/>
              </a:rPr>
              <a:t>pom.xml • Jenkinsfile • 16-readiness/sonar-build-15.json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PageNumber-17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10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814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QUALITÉ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55D9C1"/>
                </a:solidFill>
                <a:latin typeface="Segoe UI" panose="020B0502040204020203" pitchFamily="34" charset="0"/>
              </a:rPr>
              <a:t>VÉRIFIÉ AU 31/10/2026</a:t>
            </a:r>
            <a:endParaRPr lang="en-US" sz="1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Un quality gate réellement évalué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SonarQube #15 : gate OK, conditions évaluées, aucune violation nouvelle.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8000" y="2362200"/>
            <a:ext cx="3589867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Title-6"/>
          <p:cNvSpPr txBox="1"/>
          <p:nvPr/>
        </p:nvSpPr>
        <p:spPr>
          <a:xfrm>
            <a:off x="711200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0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ardBody-7"/>
          <p:cNvSpPr txBox="1"/>
          <p:nvPr/>
        </p:nvSpPr>
        <p:spPr>
          <a:xfrm>
            <a:off x="711200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Bug, vulnérabilité, code smell et security hotspot.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01067" y="2362200"/>
            <a:ext cx="3589866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rdTitle-9"/>
          <p:cNvSpPr txBox="1"/>
          <p:nvPr/>
        </p:nvSpPr>
        <p:spPr>
          <a:xfrm>
            <a:off x="4504267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87,9 %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ardBody-10"/>
          <p:cNvSpPr txBox="1"/>
          <p:nvPr/>
        </p:nvSpPr>
        <p:spPr>
          <a:xfrm>
            <a:off x="4504267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Couverture du nouveau code, seuil du gate : 80 %.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4133" y="2362200"/>
            <a:ext cx="3589867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rdTitle-12"/>
          <p:cNvSpPr txBox="1"/>
          <p:nvPr/>
        </p:nvSpPr>
        <p:spPr>
          <a:xfrm>
            <a:off x="8297333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Périmètres distincts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CardBody-13"/>
          <p:cNvSpPr txBox="1"/>
          <p:nvPr/>
        </p:nvSpPr>
        <p:spPr>
          <a:xfrm>
            <a:off x="8297333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Couverture globale Sonar : 68,5 % ; couverture des lignes : 72,3 %.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EvidenceSource-14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smtClean="0">
                <a:solidFill>
                  <a:srgbClr val="B7C8DC"/>
                </a:solidFill>
                <a:latin typeface="Segoe UI" panose="020B0502040204020203" pitchFamily="34" charset="0"/>
              </a:rPr>
              <a:t>16-readiness/sonar-build-15.json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PageNumber-15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11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049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GIT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55D9C1"/>
                </a:solidFill>
                <a:latin typeface="Segoe UI" panose="020B0502040204020203" pitchFamily="34" charset="0"/>
              </a:rPr>
              <a:t>VÉRIFIÉ AU 31/10/2026</a:t>
            </a:r>
            <a:endParaRPr lang="en-US" sz="1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Tracer les changements sur Tache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Branche dédiée, commits réels et historique préservé. Les modifications de documentation sont exclues du polling.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8000" y="2362200"/>
            <a:ext cx="7188200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de-6"/>
          <p:cNvSpPr txBox="1"/>
          <p:nvPr/>
        </p:nvSpPr>
        <p:spPr>
          <a:xfrm>
            <a:off x="736600" y="2578099"/>
            <a:ext cx="6731000" cy="318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550" smtClean="0">
                <a:solidFill>
                  <a:srgbClr val="F6F8FC"/>
                </a:solidFill>
                <a:latin typeface="Consolas" panose="020B0609020204030204" pitchFamily="49" charset="0"/>
              </a:rPr>
              <a:t>fee07ba  DTO et préparation du pipeline EKS
8a5a96f  Validation des références absentes
7b7f585  Preuves et blocage du Learner Lab
Source testée par Jenkins #15 :
8a5a96f28c1e9d1fd2aa14146af43c6efcfd7bfe</a:t>
            </a:r>
            <a:endParaRPr lang="en-US" sz="1550">
              <a:solidFill>
                <a:srgbClr val="F6F8FC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24800" y="2362200"/>
            <a:ext cx="3759200" cy="1727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rdTitle-8"/>
          <p:cNvSpPr txBox="1"/>
          <p:nvPr/>
        </p:nvSpPr>
        <p:spPr>
          <a:xfrm>
            <a:off x="8128000" y="2527299"/>
            <a:ext cx="33528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Reproductibilité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CardBody-9"/>
          <p:cNvSpPr txBox="1"/>
          <p:nvPr/>
        </p:nvSpPr>
        <p:spPr>
          <a:xfrm>
            <a:off x="8128000" y="3187699"/>
            <a:ext cx="335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Le tag d'image reprend le commit et le numéro de build.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24800" y="4267200"/>
            <a:ext cx="3759200" cy="1727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rdTitle-11"/>
          <p:cNvSpPr txBox="1"/>
          <p:nvPr/>
        </p:nvSpPr>
        <p:spPr>
          <a:xfrm>
            <a:off x="8128000" y="4432299"/>
            <a:ext cx="33528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Traçabilité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CardBody-12"/>
          <p:cNvSpPr txBox="1"/>
          <p:nvPr/>
        </p:nvSpPr>
        <p:spPr>
          <a:xfrm>
            <a:off x="8128000" y="5092699"/>
            <a:ext cx="335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Chaque résultat possède un journal, un rapport ou une capture authentique.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EvidenceSource-13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850" smtClean="0">
                <a:solidFill>
                  <a:srgbClr val="B7C8DC"/>
                </a:solidFill>
                <a:latin typeface="Segoe UI" panose="020B0502040204020203" pitchFamily="34" charset="0"/>
              </a:rPr>
              <a:t>Jalons Git, résumés des commits • Source du build #15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PageNumber-14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12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990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JENKINS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55D9C1"/>
                </a:solidFill>
                <a:latin typeface="Segoe UI" panose="020B0502040204020203" pitchFamily="34" charset="0"/>
              </a:rPr>
              <a:t>VÉRIFIÉ AU 31/10/2026</a:t>
            </a:r>
            <a:endParaRPr lang="en-US" sz="1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Un seul pipeline, une release actuelle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tache-ci #15 SUCCESS. L'ancien job de promotion est désactivé ; son historique est conservé.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8000" y="2362200"/>
            <a:ext cx="3589867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Title-6"/>
          <p:cNvSpPr txBox="1"/>
          <p:nvPr/>
        </p:nvSpPr>
        <p:spPr>
          <a:xfrm>
            <a:off x="711200" y="25272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Compiler et tester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ardBody-7"/>
          <p:cNvSpPr txBox="1"/>
          <p:nvPr/>
        </p:nvSpPr>
        <p:spPr>
          <a:xfrm>
            <a:off x="711200" y="31876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52 tests et rapports JaCoCo obligatoires.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01067" y="2362200"/>
            <a:ext cx="3589866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rdTitle-9"/>
          <p:cNvSpPr txBox="1"/>
          <p:nvPr/>
        </p:nvSpPr>
        <p:spPr>
          <a:xfrm>
            <a:off x="4504267" y="25272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Analyser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ardBody-10"/>
          <p:cNvSpPr txBox="1"/>
          <p:nvPr/>
        </p:nvSpPr>
        <p:spPr>
          <a:xfrm>
            <a:off x="4504267" y="31876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SonarQube et gate OK avant publication.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4133" y="2362200"/>
            <a:ext cx="3589867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rdTitle-12"/>
          <p:cNvSpPr txBox="1"/>
          <p:nvPr/>
        </p:nvSpPr>
        <p:spPr>
          <a:xfrm>
            <a:off x="8297333" y="25272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Préparer AWS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CardBody-13"/>
          <p:cNvSpPr txBox="1"/>
          <p:nvPr/>
        </p:nvSpPr>
        <p:spPr>
          <a:xfrm>
            <a:off x="8297333" y="31876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Terraform : validation, plan et approbation.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8000" y="4279900"/>
            <a:ext cx="3589867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ardTitle-15"/>
          <p:cNvSpPr txBox="1"/>
          <p:nvPr/>
        </p:nvSpPr>
        <p:spPr>
          <a:xfrm>
            <a:off x="711200" y="44449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Publier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CardBody-16"/>
          <p:cNvSpPr txBox="1"/>
          <p:nvPr/>
        </p:nvSpPr>
        <p:spPr>
          <a:xfrm>
            <a:off x="711200" y="51053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Nexus et Docker Hub réellement exécutés.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301067" y="4279900"/>
            <a:ext cx="3589866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rdTitle-18"/>
          <p:cNvSpPr txBox="1"/>
          <p:nvPr/>
        </p:nvSpPr>
        <p:spPr>
          <a:xfrm>
            <a:off x="4504267" y="44449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Déployer EKS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CardBody-19"/>
          <p:cNvSpPr txBox="1"/>
          <p:nvPr/>
        </p:nvSpPr>
        <p:spPr>
          <a:xfrm>
            <a:off x="4504267" y="51053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Image du build courant, plus de dépendance au build #9.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94133" y="4279900"/>
            <a:ext cx="3589867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ardTitle-21"/>
          <p:cNvSpPr txBox="1"/>
          <p:nvPr/>
        </p:nvSpPr>
        <p:spPr>
          <a:xfrm>
            <a:off x="8297333" y="44449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Contrôler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CardBody-22"/>
          <p:cNvSpPr txBox="1"/>
          <p:nvPr/>
        </p:nvSpPr>
        <p:spPr>
          <a:xfrm>
            <a:off x="8297333" y="51053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Rollout et HTTP ; étapes AWS ignorées dans #15.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EvidenceSource-23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smtClean="0">
                <a:solidFill>
                  <a:srgbClr val="B7C8DC"/>
                </a:solidFill>
                <a:latin typeface="Segoe UI" panose="020B0502040204020203" pitchFamily="34" charset="0"/>
              </a:rPr>
              <a:t>08-jenkins/build-15-summary.json • Jenkinsfile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PageNumber-24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13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407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TERRAFORM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F4BF67"/>
                </a:solidFill>
                <a:latin typeface="Segoe UI" panose="020B0502040204020203" pitchFamily="34" charset="0"/>
              </a:rPr>
              <a:t>REPRISE AWS À EFFECTUER</a:t>
            </a:r>
            <a:endParaRPr lang="en-US" sz="1000" b="1">
              <a:solidFill>
                <a:srgbClr val="F4BF6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Un plan avant toute création AWS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Le module terraform/aws-eks partage le state AWS canonique ; le state local de supervision reste séparé.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8000" y="2362200"/>
            <a:ext cx="7188200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de-6"/>
          <p:cNvSpPr txBox="1"/>
          <p:nvPr/>
        </p:nvSpPr>
        <p:spPr>
          <a:xfrm>
            <a:off x="736600" y="2578099"/>
            <a:ext cx="6731000" cy="318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50" smtClean="0">
                <a:solidFill>
                  <a:srgbClr val="F6F8FC"/>
                </a:solidFill>
                <a:latin typeface="Consolas" panose="020B0609020204030204" pitchFamily="49" charset="0"/>
              </a:rPr>
              <a:t>RUN_TERRAFORM = true
    fmt → init → validate → plan
APPLY_TERRAFORM = false // par défaut
    revue du plan et du coût
    approbation manuelle dans Jenkins
    apply du plan sauvegardé exact</a:t>
            </a:r>
            <a:endParaRPr lang="en-US" sz="1550">
              <a:solidFill>
                <a:srgbClr val="F6F8FC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24800" y="2362200"/>
            <a:ext cx="3759200" cy="1727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rdTitle-8"/>
          <p:cNvSpPr txBox="1"/>
          <p:nvPr/>
        </p:nvSpPr>
        <p:spPr>
          <a:xfrm>
            <a:off x="8128000" y="2527299"/>
            <a:ext cx="33528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Garde-fous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CardBody-9"/>
          <p:cNvSpPr txBox="1"/>
          <p:nvPr/>
        </p:nvSpPr>
        <p:spPr>
          <a:xfrm>
            <a:off x="8128000" y="3187699"/>
            <a:ext cx="335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Compte attendu, profil lab dédié et accès API limité aux IPv4 /32.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24800" y="4267200"/>
            <a:ext cx="3759200" cy="1727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rdTitle-11"/>
          <p:cNvSpPr txBox="1"/>
          <p:nvPr/>
        </p:nvSpPr>
        <p:spPr>
          <a:xfrm>
            <a:off x="8128000" y="4432299"/>
            <a:ext cx="33528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Statut actuel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CardBody-12"/>
          <p:cNvSpPr txBox="1"/>
          <p:nvPr/>
        </p:nvSpPr>
        <p:spPr>
          <a:xfrm>
            <a:off x="8128000" y="5092699"/>
            <a:ext cx="335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Hash provider Linux corrigé ; nouveau plan requis après réactivation du lab.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EvidenceSource-13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smtClean="0">
                <a:solidFill>
                  <a:srgbClr val="B7C8DC"/>
                </a:solidFill>
                <a:latin typeface="Segoe UI" panose="020B0502040204020203" pitchFamily="34" charset="0"/>
              </a:rPr>
              <a:t>terraform/aws-eks/ • docs/JENKINS_TERRAFORM.md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PageNumber-14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14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342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NEXUS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55D9C1"/>
                </a:solidFill>
                <a:latin typeface="Segoe UI" panose="020B0502040204020203" pitchFamily="34" charset="0"/>
              </a:rPr>
              <a:t>VÉRIFIÉ AU 31/10/2026</a:t>
            </a:r>
            <a:endParaRPr lang="en-US" sz="1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Le même JAR dans toute la chaîne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Le SHA-256 du JAR Jenkins #15 est identique à celui téléchargé de Nexus et à celui présent dans l'image Docker.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8000" y="2362200"/>
            <a:ext cx="3589867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Title-6"/>
          <p:cNvSpPr txBox="1"/>
          <p:nvPr/>
        </p:nvSpPr>
        <p:spPr>
          <a:xfrm>
            <a:off x="711200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Jenkins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ardBody-7"/>
          <p:cNvSpPr txBox="1"/>
          <p:nvPr/>
        </p:nvSpPr>
        <p:spPr>
          <a:xfrm>
            <a:off x="711200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JAR archivé après le build réussi.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01067" y="2362200"/>
            <a:ext cx="3589866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rdTitle-9"/>
          <p:cNvSpPr txBox="1"/>
          <p:nvPr/>
        </p:nvSpPr>
        <p:spPr>
          <a:xfrm>
            <a:off x="4504267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Nexus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ardBody-10"/>
          <p:cNvSpPr txBox="1"/>
          <p:nvPr/>
        </p:nvSpPr>
        <p:spPr>
          <a:xfrm>
            <a:off x="4504267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mtClean="0">
                <a:solidFill>
                  <a:srgbClr val="F6F8FC"/>
                </a:solidFill>
                <a:latin typeface="Segoe UI" panose="020B0502040204020203" pitchFamily="34" charset="0"/>
              </a:rPr>
              <a:t>Snapshot 1.0.0-20261031.023455-10.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4133" y="2362200"/>
            <a:ext cx="3589867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rdTitle-12"/>
          <p:cNvSpPr txBox="1"/>
          <p:nvPr/>
        </p:nvSpPr>
        <p:spPr>
          <a:xfrm>
            <a:off x="8297333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Docker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CardBody-13"/>
          <p:cNvSpPr txBox="1"/>
          <p:nvPr/>
        </p:nvSpPr>
        <p:spPr>
          <a:xfrm>
            <a:off x="8297333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/app/app.jar vérifié dans le conteneur de test.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EvidenceSource-14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smtClean="0">
                <a:solidFill>
                  <a:srgbClr val="B7C8DC"/>
                </a:solidFill>
                <a:latin typeface="Segoe UI" panose="020B0502040204020203" pitchFamily="34" charset="0"/>
              </a:rPr>
              <a:t>16-readiness/release-15-verification.json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PageNumber-15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15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325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DOCKER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55D9C1"/>
                </a:solidFill>
                <a:latin typeface="Segoe UI" panose="020B0502040204020203" pitchFamily="34" charset="0"/>
              </a:rPr>
              <a:t>VÉRIFIÉ AU 31/10/2026</a:t>
            </a:r>
            <a:endParaRPr lang="en-US" sz="1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Une image publique vérifiée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Le manifeste distant est accessible sans compte et identique au manifeste linux/amd64 local.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8000" y="2362200"/>
            <a:ext cx="3589867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Title-6"/>
          <p:cNvSpPr txBox="1"/>
          <p:nvPr/>
        </p:nvSpPr>
        <p:spPr>
          <a:xfrm>
            <a:off x="711200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Dépôt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ardBody-7"/>
          <p:cNvSpPr txBox="1"/>
          <p:nvPr/>
        </p:nvSpPr>
        <p:spPr>
          <a:xfrm>
            <a:off x="711200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mtClean="0">
                <a:solidFill>
                  <a:srgbClr val="F6F8FC"/>
                </a:solidFill>
                <a:latin typeface="Segoe UI" panose="020B0502040204020203" pitchFamily="34" charset="0"/>
              </a:rPr>
              <a:t>ayyoub1/events-tache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01067" y="2362200"/>
            <a:ext cx="3589866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rdTitle-9"/>
          <p:cNvSpPr txBox="1"/>
          <p:nvPr/>
        </p:nvSpPr>
        <p:spPr>
          <a:xfrm>
            <a:off x="4504267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Tag livré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ardBody-10"/>
          <p:cNvSpPr txBox="1"/>
          <p:nvPr/>
        </p:nvSpPr>
        <p:spPr>
          <a:xfrm>
            <a:off x="4504267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mtClean="0">
                <a:solidFill>
                  <a:srgbClr val="F6F8FC"/>
                </a:solidFill>
                <a:latin typeface="Segoe UI" panose="020B0502040204020203" pitchFamily="34" charset="0"/>
              </a:rPr>
              <a:t>tache-8a5a96f28c1e-15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4133" y="2362200"/>
            <a:ext cx="3589867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rdTitle-12"/>
          <p:cNvSpPr txBox="1"/>
          <p:nvPr/>
        </p:nvSpPr>
        <p:spPr>
          <a:xfrm>
            <a:off x="8297333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Intégrité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CardBody-13"/>
          <p:cNvSpPr txBox="1"/>
          <p:nvPr/>
        </p:nvSpPr>
        <p:spPr>
          <a:xfrm>
            <a:off x="8297333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mtClean="0">
                <a:solidFill>
                  <a:srgbClr val="F6F8FC"/>
                </a:solidFill>
                <a:latin typeface="Segoe UI" panose="020B0502040204020203" pitchFamily="34" charset="0"/>
              </a:rPr>
              <a:t>HTTP 200 anonyme ; digest SHA-256 local/distant identique.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EvidenceSource-14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smtClean="0">
                <a:solidFill>
                  <a:srgbClr val="B7C8DC"/>
                </a:solidFill>
                <a:latin typeface="Segoe UI" panose="020B0502040204020203" pitchFamily="34" charset="0"/>
              </a:rPr>
              <a:t>Digest : 5c4ff54095b9ae76… • 16-readiness/release-15-verification.json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PageNumber-15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16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198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RUNTIME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55D9C1"/>
                </a:solidFill>
                <a:latin typeface="Segoe UI" panose="020B0502040204020203" pitchFamily="34" charset="0"/>
              </a:rPr>
              <a:t>VÉRIFIÉ AU 31/10/2026</a:t>
            </a:r>
            <a:endParaRPr lang="en-US" sz="1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Tester l'image réellement construite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L'image #15 a été lancée temporairement contre MySQL, puis le conteneur de test a été supprimé.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8000" y="2362200"/>
            <a:ext cx="3589867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Title-6"/>
          <p:cNvSpPr txBox="1"/>
          <p:nvPr/>
        </p:nvSpPr>
        <p:spPr>
          <a:xfrm>
            <a:off x="711200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Readiness UP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ardBody-7"/>
          <p:cNvSpPr txBox="1"/>
          <p:nvPr/>
        </p:nvSpPr>
        <p:spPr>
          <a:xfrm>
            <a:off x="711200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Application et connexion MySQL opérationnelles.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01067" y="2362200"/>
            <a:ext cx="3589866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rdTitle-9"/>
          <p:cNvSpPr txBox="1"/>
          <p:nvPr/>
        </p:nvSpPr>
        <p:spPr>
          <a:xfrm>
            <a:off x="4504267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Métier et métriques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ardBody-10"/>
          <p:cNvSpPr txBox="1"/>
          <p:nvPr/>
        </p:nvSpPr>
        <p:spPr>
          <a:xfrm>
            <a:off x="4504267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DTO, affectation du rôle, 404 attendu et export Prometheus vérifiés.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4133" y="2362200"/>
            <a:ext cx="3589867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rdTitle-12"/>
          <p:cNvSpPr txBox="1"/>
          <p:nvPr/>
        </p:nvSpPr>
        <p:spPr>
          <a:xfrm>
            <a:off x="8297333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Utilisateur 10001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CardBody-13"/>
          <p:cNvSpPr txBox="1"/>
          <p:nvPr/>
        </p:nvSpPr>
        <p:spPr>
          <a:xfrm>
            <a:off x="8297333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Exécution non-root, confirmée dans le conteneur.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EvidenceSource-14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smtClean="0">
                <a:solidFill>
                  <a:srgbClr val="B7C8DC"/>
                </a:solidFill>
                <a:latin typeface="Segoe UI" panose="020B0502040204020203" pitchFamily="34" charset="0"/>
              </a:rPr>
              <a:t>16-readiness/docker-image-15-smoke.json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PageNumber-15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17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699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OBSERVABILITÉ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55D9C1"/>
                </a:solidFill>
                <a:latin typeface="Segoe UI" panose="020B0502040204020203" pitchFamily="34" charset="0"/>
              </a:rPr>
              <a:t>VÉRIFIÉ AU 31/10/2026</a:t>
            </a:r>
            <a:endParaRPr lang="en-US" sz="1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Des logs et des métriques exploitables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L'application expose des métriques Actuator ; Prometheus collecte et Grafana visualise.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8000" y="2362200"/>
            <a:ext cx="7188200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de-6"/>
          <p:cNvSpPr txBox="1"/>
          <p:nvPr/>
        </p:nvSpPr>
        <p:spPr>
          <a:xfrm>
            <a:off x="736600" y="2578099"/>
            <a:ext cx="6731000" cy="318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50" smtClean="0">
                <a:solidFill>
                  <a:srgbClr val="F6F8FC"/>
                </a:solidFill>
                <a:latin typeface="Consolas" panose="020B0609020204030204" pitchFamily="49" charset="0"/>
              </a:rPr>
              <a:t>/events/actuator/health/readiness
/events/actuator/prometheus
DEBUG  lecture du rôle
INFO   affectation / retrait
WARN   entrée invalide / participant absent
ERROR  incident inattendu, sans secret</a:t>
            </a:r>
            <a:endParaRPr lang="en-US" sz="1550">
              <a:solidFill>
                <a:srgbClr val="F6F8FC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24800" y="2362200"/>
            <a:ext cx="3759200" cy="1727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rdTitle-8"/>
          <p:cNvSpPr txBox="1"/>
          <p:nvPr/>
        </p:nvSpPr>
        <p:spPr>
          <a:xfrm>
            <a:off x="8128000" y="2527299"/>
            <a:ext cx="33528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Export vérifié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CardBody-9"/>
          <p:cNvSpPr txBox="1"/>
          <p:nvPr/>
        </p:nvSpPr>
        <p:spPr>
          <a:xfrm>
            <a:off x="8128000" y="3187699"/>
            <a:ext cx="335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Métriques JVM et requêtes HTTP présentes dans le runtime testé.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24800" y="4267200"/>
            <a:ext cx="3759200" cy="1727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rdTitle-11"/>
          <p:cNvSpPr txBox="1"/>
          <p:nvPr/>
        </p:nvSpPr>
        <p:spPr>
          <a:xfrm>
            <a:off x="8128000" y="4432299"/>
            <a:ext cx="33528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Collecte EKS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CardBody-12"/>
          <p:cNvSpPr txBox="1"/>
          <p:nvPr/>
        </p:nvSpPr>
        <p:spPr>
          <a:xfrm>
            <a:off x="8128000" y="5092699"/>
            <a:ext cx="335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Manifests et dashboard prêts ; vérification live après réactivation.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EvidenceSource-13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smtClean="0">
                <a:solidFill>
                  <a:srgbClr val="B7C8DC"/>
                </a:solidFill>
                <a:latin typeface="Segoe UI" panose="020B0502040204020203" pitchFamily="34" charset="0"/>
              </a:rPr>
              <a:t>application.properties • TacheService.java • TacheExceptionHandler.java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PageNumber-14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18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630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AWS EKS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F4BF67"/>
                </a:solidFill>
                <a:latin typeface="Segoe UI" panose="020B0502040204020203" pitchFamily="34" charset="0"/>
              </a:rPr>
              <a:t>REPRISE AWS À EFFECTUER</a:t>
            </a:r>
            <a:endParaRPr lang="en-US" sz="1000" b="1">
              <a:solidFill>
                <a:srgbClr val="F4BF6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Une infrastructure de démonstration maîtrisée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La configuration AWS vise us-east-1 et réutilise le VPC, les subnets et LabRole du laboratoire.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8000" y="2362200"/>
            <a:ext cx="3589867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Title-6"/>
          <p:cNvSpPr txBox="1"/>
          <p:nvPr/>
        </p:nvSpPr>
        <p:spPr>
          <a:xfrm>
            <a:off x="711200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Quatre ressources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ardBody-7"/>
          <p:cNvSpPr txBox="1"/>
          <p:nvPr/>
        </p:nvSpPr>
        <p:spPr>
          <a:xfrm>
            <a:off x="711200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mtClean="0">
                <a:solidFill>
                  <a:srgbClr val="F6F8FC"/>
                </a:solidFill>
                <a:latin typeface="Segoe UI" panose="020B0502040204020203" pitchFamily="34" charset="0"/>
              </a:rPr>
              <a:t>Cluster EKS, launch template, node group et add-on EBS CSI.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01067" y="2362200"/>
            <a:ext cx="3589866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rdTitle-9"/>
          <p:cNvSpPr txBox="1"/>
          <p:nvPr/>
        </p:nvSpPr>
        <p:spPr>
          <a:xfrm>
            <a:off x="4504267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Un worker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ardBody-10"/>
          <p:cNvSpPr txBox="1"/>
          <p:nvPr/>
        </p:nvSpPr>
        <p:spPr>
          <a:xfrm>
            <a:off x="4504267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t3.medium fixe ; disque système gp3 chiffré de 20 Gio.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4133" y="2362200"/>
            <a:ext cx="3589867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rdTitle-12"/>
          <p:cNvSpPr txBox="1"/>
          <p:nvPr/>
        </p:nvSpPr>
        <p:spPr>
          <a:xfrm>
            <a:off x="8297333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Stockage applicatif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CardBody-13"/>
          <p:cNvSpPr txBox="1"/>
          <p:nvPr/>
        </p:nvSpPr>
        <p:spPr>
          <a:xfrm>
            <a:off x="8297333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MySQL 4 Gio, Prometheus 1 Gio, Grafana 1 Gio ; accès par tunnels authentifiés.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EvidenceSource-14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850" smtClean="0">
                <a:solidFill>
                  <a:srgbClr val="B7C8DC"/>
                </a:solidFill>
                <a:latin typeface="Segoe UI" panose="020B0502040204020203" pitchFamily="34" charset="0"/>
              </a:rPr>
              <a:t>terraform/aws-eks/ • k8s/eks/ • Création actuelle en attente de revue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PageNumber-15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19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606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PREUVE AWS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F4BF67"/>
                </a:solidFill>
                <a:latin typeface="Segoe UI" panose="020B0502040204020203" pitchFamily="34" charset="0"/>
              </a:rPr>
              <a:t>DÉMONSTRATION DU 29/10/2026</a:t>
            </a:r>
            <a:endParaRPr lang="en-US" sz="1000" b="1">
              <a:solidFill>
                <a:srgbClr val="F4BF6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EKS : démonstration réalisée le 29 octobre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Le déploiement précédent a été vérifié sur AWS puis supprimé après accord ; cette capture ne décrit pas un cluster actif aujourd'hui.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45000" y="2362200"/>
            <a:ext cx="7239000" cy="3632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Evidence-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514" y="2463800"/>
            <a:ext cx="6579973" cy="3429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8000" y="2362200"/>
            <a:ext cx="3708400" cy="11557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rdTitle-8"/>
          <p:cNvSpPr txBox="1"/>
          <p:nvPr/>
        </p:nvSpPr>
        <p:spPr>
          <a:xfrm>
            <a:off x="711200" y="2527299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1 worker Ready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CardBody-9"/>
          <p:cNvSpPr txBox="1"/>
          <p:nvPr/>
        </p:nvSpPr>
        <p:spPr>
          <a:xfrm>
            <a:off x="711200" y="2895599"/>
            <a:ext cx="3302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 smtClean="0">
                <a:solidFill>
                  <a:srgbClr val="F6F8FC"/>
                </a:solidFill>
                <a:latin typeface="Segoe UI" panose="020B0502040204020203" pitchFamily="34" charset="0"/>
              </a:rPr>
              <a:t>Un nœud t3.medium disponible.</a:t>
            </a:r>
            <a:endParaRPr lang="en-US" sz="13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8000" y="3594100"/>
            <a:ext cx="3708400" cy="11557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rdTitle-11"/>
          <p:cNvSpPr txBox="1"/>
          <p:nvPr/>
        </p:nvSpPr>
        <p:spPr>
          <a:xfrm>
            <a:off x="711200" y="3759199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4 deployments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CardBody-12"/>
          <p:cNvSpPr txBox="1"/>
          <p:nvPr/>
        </p:nvSpPr>
        <p:spPr>
          <a:xfrm>
            <a:off x="711200" y="4127499"/>
            <a:ext cx="3302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350" smtClean="0">
                <a:solidFill>
                  <a:srgbClr val="F6F8FC"/>
                </a:solidFill>
                <a:latin typeface="Segoe UI" panose="020B0502040204020203" pitchFamily="34" charset="0"/>
              </a:rPr>
              <a:t>Application, MySQL, Prometheus et Grafana.</a:t>
            </a:r>
            <a:endParaRPr lang="en-US" sz="13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8000" y="4826000"/>
            <a:ext cx="3708400" cy="11557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rdTitle-14"/>
          <p:cNvSpPr txBox="1"/>
          <p:nvPr/>
        </p:nvSpPr>
        <p:spPr>
          <a:xfrm>
            <a:off x="711200" y="4991099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3 PVC Bound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ardBody-15"/>
          <p:cNvSpPr txBox="1"/>
          <p:nvPr/>
        </p:nvSpPr>
        <p:spPr>
          <a:xfrm>
            <a:off x="711200" y="5359399"/>
            <a:ext cx="3302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 smtClean="0">
                <a:solidFill>
                  <a:srgbClr val="F6F8FC"/>
                </a:solidFill>
                <a:latin typeface="Segoe UI" panose="020B0502040204020203" pitchFamily="34" charset="0"/>
              </a:rPr>
              <a:t>Volumes gp3 chiffrés vérifiés.</a:t>
            </a:r>
            <a:endParaRPr lang="en-US" sz="13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EvidenceSource-16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850" smtClean="0">
                <a:solidFill>
                  <a:srgbClr val="B7C8DC"/>
                </a:solidFill>
                <a:latin typeface="Segoe UI" panose="020B0502040204020203" pitchFamily="34" charset="0"/>
              </a:rPr>
              <a:t>Capture authentique du 29/10/2026 • Infrastructure ensuite nettoyée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PageNumber-17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20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80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PROMETHEUS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F4BF67"/>
                </a:solidFill>
                <a:latin typeface="Segoe UI" panose="020B0502040204020203" pitchFamily="34" charset="0"/>
              </a:rPr>
              <a:t>DÉMONSTRATION DU 29/10/2026</a:t>
            </a:r>
            <a:endParaRPr lang="en-US" sz="1000" b="1">
              <a:solidFill>
                <a:srgbClr val="F4BF6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Prometheus : une cible réellement UP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Lors de la démonstration AWS du 29 octobre, Prometheus collectait les métriques Actuator du Service applicatif.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45000" y="2362200"/>
            <a:ext cx="7239000" cy="3632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Evidence-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400" y="2463800"/>
            <a:ext cx="6172200" cy="3429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8000" y="2362200"/>
            <a:ext cx="3708400" cy="11557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rdTitle-8"/>
          <p:cNvSpPr txBox="1"/>
          <p:nvPr/>
        </p:nvSpPr>
        <p:spPr>
          <a:xfrm>
            <a:off x="711200" y="2527299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Collecteur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CardBody-9"/>
          <p:cNvSpPr txBox="1"/>
          <p:nvPr/>
        </p:nvSpPr>
        <p:spPr>
          <a:xfrm>
            <a:off x="711200" y="2895599"/>
            <a:ext cx="3302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350" smtClean="0">
                <a:solidFill>
                  <a:srgbClr val="F6F8FC"/>
                </a:solidFill>
                <a:latin typeface="Segoe UI" panose="020B0502040204020203" pitchFamily="34" charset="0"/>
              </a:rPr>
              <a:t>Scrape toutes les 15 secondes.</a:t>
            </a:r>
            <a:endParaRPr lang="en-US" sz="13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8000" y="3594100"/>
            <a:ext cx="3708400" cy="11557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rdTitle-11"/>
          <p:cNvSpPr txBox="1"/>
          <p:nvPr/>
        </p:nvSpPr>
        <p:spPr>
          <a:xfrm>
            <a:off x="711200" y="3759199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Cible applicative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CardBody-12"/>
          <p:cNvSpPr txBox="1"/>
          <p:nvPr/>
        </p:nvSpPr>
        <p:spPr>
          <a:xfrm>
            <a:off x="711200" y="4127499"/>
            <a:ext cx="3302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 smtClean="0">
                <a:solidFill>
                  <a:srgbClr val="F6F8FC"/>
                </a:solidFill>
                <a:latin typeface="Segoe UI" panose="020B0502040204020203" pitchFamily="34" charset="0"/>
              </a:rPr>
              <a:t>Service events, port 8089, chemin /events/actuator/prometheus.</a:t>
            </a:r>
            <a:endParaRPr lang="en-US" sz="13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8000" y="4826000"/>
            <a:ext cx="3708400" cy="11557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rdTitle-14"/>
          <p:cNvSpPr txBox="1"/>
          <p:nvPr/>
        </p:nvSpPr>
        <p:spPr>
          <a:xfrm>
            <a:off x="711200" y="4991099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Reprise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ardBody-15"/>
          <p:cNvSpPr txBox="1"/>
          <p:nvPr/>
        </p:nvSpPr>
        <p:spPr>
          <a:xfrm>
            <a:off x="711200" y="5359399"/>
            <a:ext cx="3302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350" smtClean="0">
                <a:solidFill>
                  <a:srgbClr val="F6F8FC"/>
                </a:solidFill>
                <a:latin typeface="Segoe UI" panose="020B0502040204020203" pitchFamily="34" charset="0"/>
              </a:rPr>
              <a:t>La cible devra redevenir UP dans le nouveau cluster.</a:t>
            </a:r>
            <a:endParaRPr lang="en-US" sz="13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EvidenceSource-16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smtClean="0">
                <a:solidFill>
                  <a:srgbClr val="B7C8DC"/>
                </a:solidFill>
                <a:latin typeface="Segoe UI" panose="020B0502040204020203" pitchFamily="34" charset="0"/>
              </a:rPr>
              <a:t>Capture du 29/10/2026 • k8s/eks/prometheus.yaml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PageNumber-17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21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576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GRAFANA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F4BF67"/>
                </a:solidFill>
                <a:latin typeface="Segoe UI" panose="020B0502040204020203" pitchFamily="34" charset="0"/>
              </a:rPr>
              <a:t>DÉMONSTRATION DU 29/10/2026</a:t>
            </a:r>
            <a:endParaRPr lang="en-US" sz="1000" b="1">
              <a:solidFill>
                <a:srgbClr val="F4BF6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Grafana : un dashboard provisionné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La démonstration AWS précédente valide la datasource Prometheus et quatre requêtes non vides.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45000" y="2362200"/>
            <a:ext cx="7239000" cy="3632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Evidence-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300" y="2463800"/>
            <a:ext cx="5486400" cy="3429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8000" y="2362200"/>
            <a:ext cx="3708400" cy="11557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rdTitle-8"/>
          <p:cNvSpPr txBox="1"/>
          <p:nvPr/>
        </p:nvSpPr>
        <p:spPr>
          <a:xfrm>
            <a:off x="711200" y="2527299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Quatre vues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CardBody-9"/>
          <p:cNvSpPr txBox="1"/>
          <p:nvPr/>
        </p:nvSpPr>
        <p:spPr>
          <a:xfrm>
            <a:off x="711200" y="2895599"/>
            <a:ext cx="3302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350" smtClean="0">
                <a:solidFill>
                  <a:srgbClr val="F6F8FC"/>
                </a:solidFill>
                <a:latin typeface="Segoe UI" panose="020B0502040204020203" pitchFamily="34" charset="0"/>
              </a:rPr>
              <a:t>Cible UP, CPU Java, mémoire JVM et débit HTTP.</a:t>
            </a:r>
            <a:endParaRPr lang="en-US" sz="13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8000" y="3594100"/>
            <a:ext cx="3708400" cy="11557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rdTitle-11"/>
          <p:cNvSpPr txBox="1"/>
          <p:nvPr/>
        </p:nvSpPr>
        <p:spPr>
          <a:xfrm>
            <a:off x="711200" y="3759199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Provisioning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CardBody-12"/>
          <p:cNvSpPr txBox="1"/>
          <p:nvPr/>
        </p:nvSpPr>
        <p:spPr>
          <a:xfrm>
            <a:off x="711200" y="4127499"/>
            <a:ext cx="3302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350" smtClean="0">
                <a:solidFill>
                  <a:srgbClr val="F6F8FC"/>
                </a:solidFill>
                <a:latin typeface="Segoe UI" panose="020B0502040204020203" pitchFamily="34" charset="0"/>
              </a:rPr>
              <a:t>Datasource et dashboard fournis par la configuration du dépôt.</a:t>
            </a:r>
            <a:endParaRPr lang="en-US" sz="13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8000" y="4826000"/>
            <a:ext cx="3708400" cy="11557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rdTitle-14"/>
          <p:cNvSpPr txBox="1"/>
          <p:nvPr/>
        </p:nvSpPr>
        <p:spPr>
          <a:xfrm>
            <a:off x="711200" y="4991099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Reprise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ardBody-15"/>
          <p:cNvSpPr txBox="1"/>
          <p:nvPr/>
        </p:nvSpPr>
        <p:spPr>
          <a:xfrm>
            <a:off x="711200" y="5359399"/>
            <a:ext cx="3302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350" smtClean="0">
                <a:solidFill>
                  <a:srgbClr val="F6F8FC"/>
                </a:solidFill>
                <a:latin typeface="Segoe UI" panose="020B0502040204020203" pitchFamily="34" charset="0"/>
              </a:rPr>
              <a:t>Santé de la datasource et valeurs à vérifier après bootstrap.</a:t>
            </a:r>
            <a:endParaRPr lang="en-US" sz="13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EvidenceSource-16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smtClean="0">
                <a:solidFill>
                  <a:srgbClr val="B7C8DC"/>
                </a:solidFill>
                <a:latin typeface="Segoe UI" panose="020B0502040204020203" pitchFamily="34" charset="0"/>
              </a:rPr>
              <a:t>Capture du 29/10/2026 • monitoring/grafana-dashboard.json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PageNumber-17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22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963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CYCLE DE VIE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F4BF67"/>
                </a:solidFill>
                <a:latin typeface="Segoe UI" panose="020B0502040204020203" pitchFamily="34" charset="0"/>
              </a:rPr>
              <a:t>DÉMONSTRATION DU 29/10/2026</a:t>
            </a:r>
            <a:endParaRPr lang="en-US" sz="1000" b="1">
              <a:solidFill>
                <a:srgbClr val="F4BF6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Nettoyer après la démonstration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Le nettoyage précédent a été approuvé et contrôlé : ressources Terraform et volumes de données supprimés.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45000" y="2362200"/>
            <a:ext cx="7239000" cy="3632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Evidence-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514" y="2463800"/>
            <a:ext cx="6579973" cy="3429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8000" y="2362200"/>
            <a:ext cx="3708400" cy="11557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rdTitle-8"/>
          <p:cNvSpPr txBox="1"/>
          <p:nvPr/>
        </p:nvSpPr>
        <p:spPr>
          <a:xfrm>
            <a:off x="711200" y="2527299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Données d'abord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CardBody-9"/>
          <p:cNvSpPr txBox="1"/>
          <p:nvPr/>
        </p:nvSpPr>
        <p:spPr>
          <a:xfrm>
            <a:off x="711200" y="2895599"/>
            <a:ext cx="3302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350" smtClean="0">
                <a:solidFill>
                  <a:srgbClr val="F6F8FC"/>
                </a:solidFill>
                <a:latin typeface="Segoe UI" panose="020B0502040204020203" pitchFamily="34" charset="0"/>
              </a:rPr>
              <a:t>Suppression des PVC avant celle du cluster.</a:t>
            </a:r>
            <a:endParaRPr lang="en-US" sz="13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8000" y="3594100"/>
            <a:ext cx="3708400" cy="11557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rdTitle-11"/>
          <p:cNvSpPr txBox="1"/>
          <p:nvPr/>
        </p:nvSpPr>
        <p:spPr>
          <a:xfrm>
            <a:off x="711200" y="3759199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Plan de destruction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CardBody-12"/>
          <p:cNvSpPr txBox="1"/>
          <p:nvPr/>
        </p:nvSpPr>
        <p:spPr>
          <a:xfrm>
            <a:off x="711200" y="4127499"/>
            <a:ext cx="3302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350" smtClean="0">
                <a:solidFill>
                  <a:srgbClr val="F6F8FC"/>
                </a:solidFill>
                <a:latin typeface="Segoe UI" panose="020B0502040204020203" pitchFamily="34" charset="0"/>
              </a:rPr>
              <a:t>Revue puis accord avant l'apply destructif.</a:t>
            </a:r>
            <a:endParaRPr lang="en-US" sz="13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8000" y="4826000"/>
            <a:ext cx="3708400" cy="11557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rdTitle-14"/>
          <p:cNvSpPr txBox="1"/>
          <p:nvPr/>
        </p:nvSpPr>
        <p:spPr>
          <a:xfrm>
            <a:off x="711200" y="4991099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État confirmé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ardBody-15"/>
          <p:cNvSpPr txBox="1"/>
          <p:nvPr/>
        </p:nvSpPr>
        <p:spPr>
          <a:xfrm>
            <a:off x="711200" y="5359399"/>
            <a:ext cx="3302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350" smtClean="0">
                <a:solidFill>
                  <a:srgbClr val="F6F8FC"/>
                </a:solidFill>
                <a:latin typeface="Segoe UI" panose="020B0502040204020203" pitchFamily="34" charset="0"/>
              </a:rPr>
              <a:t>Cluster précédent absent et volumes EBS supprimés.</a:t>
            </a:r>
            <a:endParaRPr lang="en-US" sz="13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EvidenceSource-16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smtClean="0">
                <a:solidFill>
                  <a:srgbClr val="B7C8DC"/>
                </a:solidFill>
                <a:latin typeface="Segoe UI" panose="020B0502040204020203" pitchFamily="34" charset="0"/>
              </a:rPr>
              <a:t>Preuve historique • 14-aws-eks/cleanup-verification.json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PageNumber-17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23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268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REPRISE AWS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F4BF67"/>
                </a:solidFill>
                <a:latin typeface="Segoe UI" panose="020B0502040204020203" pitchFamily="34" charset="0"/>
              </a:rPr>
              <a:t>REPRISE AWS À EFFECTUER</a:t>
            </a:r>
            <a:endParaRPr lang="en-US" sz="1000" b="1">
              <a:solidFill>
                <a:srgbClr val="F4BF6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Les étapes pour relancer la démonstration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La policy voc-cancel-cred refuse actuellement EKS ; le laboratoire doit être redémarré avant de préparer un nouveau plan.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8000" y="2362200"/>
            <a:ext cx="3589867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Title-6"/>
          <p:cNvSpPr txBox="1"/>
          <p:nvPr/>
        </p:nvSpPr>
        <p:spPr>
          <a:xfrm>
            <a:off x="711200" y="25272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1 · Démarrer le lab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ardBody-7"/>
          <p:cNvSpPr txBox="1"/>
          <p:nvPr/>
        </p:nvSpPr>
        <p:spPr>
          <a:xfrm>
            <a:off x="711200" y="31876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Renouveler les trois credentials du profil dédié.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01067" y="2362200"/>
            <a:ext cx="3589866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rdTitle-9"/>
          <p:cNvSpPr txBox="1"/>
          <p:nvPr/>
        </p:nvSpPr>
        <p:spPr>
          <a:xfrm>
            <a:off x="4504267" y="25272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2 · Préparer Jenkins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ardBody-10"/>
          <p:cNvSpPr txBox="1"/>
          <p:nvPr/>
        </p:nvSpPr>
        <p:spPr>
          <a:xfrm>
            <a:off x="4504267" y="31876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Vérifier identité, compte, budget et CIDRs /32 ; renouveler les Secret files.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4133" y="2362200"/>
            <a:ext cx="3589867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rdTitle-12"/>
          <p:cNvSpPr txBox="1"/>
          <p:nvPr/>
        </p:nvSpPr>
        <p:spPr>
          <a:xfrm>
            <a:off x="8297333" y="25272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3 · Revoir le plan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CardBody-13"/>
          <p:cNvSpPr txBox="1"/>
          <p:nvPr/>
        </p:nvSpPr>
        <p:spPr>
          <a:xfrm>
            <a:off x="8297333" y="31876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DEPLOY_EKS=false ; approbation explicite avant apply.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8000" y="4279900"/>
            <a:ext cx="3589867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ardTitle-15"/>
          <p:cNvSpPr txBox="1"/>
          <p:nvPr/>
        </p:nvSpPr>
        <p:spPr>
          <a:xfrm>
            <a:off x="711200" y="44449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4 · Bootstrap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CardBody-16"/>
          <p:cNvSpPr txBox="1"/>
          <p:nvPr/>
        </p:nvSpPr>
        <p:spPr>
          <a:xfrm>
            <a:off x="711200" y="51053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 smtClean="0">
                <a:solidFill>
                  <a:srgbClr val="F6F8FC"/>
                </a:solidFill>
                <a:latin typeface="Segoe UI" panose="020B0502040204020203" pitchFamily="34" charset="0"/>
              </a:rPr>
              <a:t>Namespaces, Secrets, MySQL, monitoring et RBAC.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301067" y="4279900"/>
            <a:ext cx="3589866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rdTitle-18"/>
          <p:cNvSpPr txBox="1"/>
          <p:nvPr/>
        </p:nvSpPr>
        <p:spPr>
          <a:xfrm>
            <a:off x="4504267" y="44449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5 · Livrer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CardBody-19"/>
          <p:cNvSpPr txBox="1"/>
          <p:nvPr/>
        </p:nvSpPr>
        <p:spPr>
          <a:xfrm>
            <a:off x="4504267" y="51053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smtClean="0">
                <a:solidFill>
                  <a:srgbClr val="F6F8FC"/>
                </a:solidFill>
                <a:latin typeface="Segoe UI" panose="020B0502040204020203" pitchFamily="34" charset="0"/>
              </a:rPr>
              <a:t>Renouveler le token EKS ; lancer le pipeline avec DEPLOY_EKS=true.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94133" y="4279900"/>
            <a:ext cx="3589867" cy="17145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ardTitle-21"/>
          <p:cNvSpPr txBox="1"/>
          <p:nvPr/>
        </p:nvSpPr>
        <p:spPr>
          <a:xfrm>
            <a:off x="8297333" y="4444999"/>
            <a:ext cx="3183467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 smtClean="0">
                <a:solidFill>
                  <a:srgbClr val="55D9C1"/>
                </a:solidFill>
                <a:latin typeface="Segoe UI" panose="020B0502040204020203" pitchFamily="34" charset="0"/>
              </a:rPr>
              <a:t>6 · Prouver</a:t>
            </a:r>
            <a:endParaRPr lang="en-US" sz="2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CardBody-22"/>
          <p:cNvSpPr txBox="1"/>
          <p:nvPr/>
        </p:nvSpPr>
        <p:spPr>
          <a:xfrm>
            <a:off x="8297333" y="5105399"/>
            <a:ext cx="3183467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 smtClean="0">
                <a:solidFill>
                  <a:srgbClr val="F6F8FC"/>
                </a:solidFill>
                <a:latin typeface="Segoe UI" panose="020B0502040204020203" pitchFamily="34" charset="0"/>
              </a:rPr>
              <a:t>HTTP/MySQL, PVC, cible UP, datasource et dashboard.</a:t>
            </a:r>
            <a:endParaRPr lang="en-US" sz="1450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EvidenceSource-23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smtClean="0">
                <a:solidFill>
                  <a:srgbClr val="B7C8DC"/>
                </a:solidFill>
                <a:latin typeface="Segoe UI" panose="020B0502040204020203" pitchFamily="34" charset="0"/>
              </a:rPr>
              <a:t>docs/AWS_EKS_OPERATIONS.md • docs/JENKINS_TERRAFORM.md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PageNumber-24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24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50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BILAN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55D9C1"/>
                </a:solidFill>
                <a:latin typeface="Segoe UI" panose="020B0502040204020203" pitchFamily="34" charset="0"/>
              </a:rPr>
              <a:t>VÉRIFIÉ AU 31/10/2026</a:t>
            </a:r>
            <a:endParaRPr lang="en-US" sz="1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Des résultats vérifiés, une reprise documentée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La release applicative et ses preuves sont prêtes ; la nouvelle activation AWS dépend du Learner Lab.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8000" y="2362200"/>
            <a:ext cx="3589867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Title-6"/>
          <p:cNvSpPr txBox="1"/>
          <p:nvPr/>
        </p:nvSpPr>
        <p:spPr>
          <a:xfrm>
            <a:off x="711200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Application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ardBody-7"/>
          <p:cNvSpPr txBox="1"/>
          <p:nvPr/>
        </p:nvSpPr>
        <p:spPr>
          <a:xfrm>
            <a:off x="711200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DTO entrée/sortie, 52 tests, HTTP/MySQL et erreurs contrôlées.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01067" y="2362200"/>
            <a:ext cx="3589866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rdTitle-9"/>
          <p:cNvSpPr txBox="1"/>
          <p:nvPr/>
        </p:nvSpPr>
        <p:spPr>
          <a:xfrm>
            <a:off x="4504267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Chaîne CI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ardBody-10"/>
          <p:cNvSpPr txBox="1"/>
          <p:nvPr/>
        </p:nvSpPr>
        <p:spPr>
          <a:xfrm>
            <a:off x="4504267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mtClean="0">
                <a:solidFill>
                  <a:srgbClr val="F6F8FC"/>
                </a:solidFill>
                <a:latin typeface="Segoe UI" panose="020B0502040204020203" pitchFamily="34" charset="0"/>
              </a:rPr>
              <a:t>Jenkins #15, gate OK, JaCoCo, Nexus et Docker Hub vérifiés.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4133" y="2362200"/>
            <a:ext cx="3589867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rdTitle-12"/>
          <p:cNvSpPr txBox="1"/>
          <p:nvPr/>
        </p:nvSpPr>
        <p:spPr>
          <a:xfrm>
            <a:off x="8297333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Infrastructure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CardBody-13"/>
          <p:cNvSpPr txBox="1"/>
          <p:nvPr/>
        </p:nvSpPr>
        <p:spPr>
          <a:xfrm>
            <a:off x="8297333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Preuves AWS historiques conservées ; plan et bootstrap à reprendre après activation du lab.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EvidenceSource-14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smtClean="0">
                <a:solidFill>
                  <a:srgbClr val="B7C8DC"/>
                </a:solidFill>
                <a:latin typeface="Segoe UI" panose="020B0502040204020203" pitchFamily="34" charset="0"/>
              </a:rPr>
              <a:t>docs/READINESS.md • docs/EVALUATION_TRACKER.md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PageNumber-15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25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2942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"/>
          <p:cNvSpPr txBox="1"/>
          <p:nvPr/>
        </p:nvSpPr>
        <p:spPr>
          <a:xfrm>
            <a:off x="508000" y="228599"/>
            <a:ext cx="749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 smtClean="0">
                <a:solidFill>
                  <a:srgbClr val="B7C8DC"/>
                </a:solidFill>
                <a:latin typeface="Segoe UI" panose="020B0502040204020203" pitchFamily="34" charset="0"/>
              </a:rPr>
              <a:t>EVENTSPROJECT / DÉFENSE DES SOURCES</a:t>
            </a:r>
            <a:endParaRPr lang="en-US" sz="1050" b="1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Status-2"/>
          <p:cNvSpPr txBox="1"/>
          <p:nvPr/>
        </p:nvSpPr>
        <p:spPr>
          <a:xfrm>
            <a:off x="8407400" y="228599"/>
            <a:ext cx="3276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 smtClean="0">
                <a:solidFill>
                  <a:srgbClr val="55D9C1"/>
                </a:solidFill>
                <a:latin typeface="Segoe UI" panose="020B0502040204020203" pitchFamily="34" charset="0"/>
              </a:rPr>
              <a:t>VÉRIFIÉ AU 31/10/2026</a:t>
            </a:r>
            <a:endParaRPr lang="en-US" sz="10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le-3"/>
          <p:cNvSpPr txBox="1"/>
          <p:nvPr/>
        </p:nvSpPr>
        <p:spPr>
          <a:xfrm>
            <a:off x="508000" y="6730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smtClean="0">
                <a:solidFill>
                  <a:srgbClr val="F6F8FC"/>
                </a:solidFill>
                <a:latin typeface="Segoe UI" panose="020B0502040204020203" pitchFamily="34" charset="0"/>
              </a:rPr>
              <a:t>Trois choix à expliquer</a:t>
            </a:r>
            <a:endParaRPr lang="en-US" sz="3000" b="1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Description-4"/>
          <p:cNvSpPr txBox="1"/>
          <p:nvPr/>
        </p:nvSpPr>
        <p:spPr>
          <a:xfrm>
            <a:off x="508000" y="1409699"/>
            <a:ext cx="11176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B7C8DC"/>
                </a:solidFill>
                <a:latin typeface="Segoe UI" panose="020B0502040204020203" pitchFamily="34" charset="0"/>
              </a:rPr>
              <a:t>Les réponses sont visibles ici ; aucune note orateur n'est ajoutée au fichier PowerPoint.</a:t>
            </a:r>
            <a:endParaRPr lang="en-US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8000" y="2362200"/>
            <a:ext cx="3589867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Title-6"/>
          <p:cNvSpPr txBox="1"/>
          <p:nvPr/>
        </p:nvSpPr>
        <p:spPr>
          <a:xfrm>
            <a:off x="711200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Pourquoi un DTO ?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ardBody-7"/>
          <p:cNvSpPr txBox="1"/>
          <p:nvPr/>
        </p:nvSpPr>
        <p:spPr>
          <a:xfrm>
            <a:off x="711200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Définir le contrat HTTP, limiter les champs modifiables et empêcher les cycles JPA.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01067" y="2362200"/>
            <a:ext cx="3589866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rdTitle-9"/>
          <p:cNvSpPr txBox="1"/>
          <p:nvPr/>
        </p:nvSpPr>
        <p:spPr>
          <a:xfrm>
            <a:off x="4504267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Pourquoi un enum ?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ardBody-10"/>
          <p:cNvSpPr txBox="1"/>
          <p:nvPr/>
        </p:nvSpPr>
        <p:spPr>
          <a:xfrm>
            <a:off x="4504267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Tache représente quatre rôles du participant, pas une tâche métier autonome.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4133" y="2362200"/>
            <a:ext cx="3589867" cy="3632200"/>
          </a:xfrm>
          <a:prstGeom prst="roundRect">
            <a:avLst/>
          </a:prstGeom>
          <a:solidFill>
            <a:srgbClr val="1726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rdTitle-12"/>
          <p:cNvSpPr txBox="1"/>
          <p:nvPr/>
        </p:nvSpPr>
        <p:spPr>
          <a:xfrm>
            <a:off x="8297333" y="2527299"/>
            <a:ext cx="318346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smtClean="0">
                <a:solidFill>
                  <a:srgbClr val="55D9C1"/>
                </a:solidFill>
                <a:latin typeface="Segoe UI" panose="020B0502040204020203" pitchFamily="34" charset="0"/>
              </a:rPr>
              <a:t>Pourquoi plan puis apply ?</a:t>
            </a:r>
            <a:endParaRPr lang="en-US" sz="2400" b="1">
              <a:solidFill>
                <a:srgbClr val="55D9C1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CardBody-13"/>
          <p:cNvSpPr txBox="1"/>
          <p:nvPr/>
        </p:nvSpPr>
        <p:spPr>
          <a:xfrm>
            <a:off x="8297333" y="3352799"/>
            <a:ext cx="3183467" cy="247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mtClean="0">
                <a:solidFill>
                  <a:srgbClr val="F6F8FC"/>
                </a:solidFill>
                <a:latin typeface="Segoe UI" panose="020B0502040204020203" pitchFamily="34" charset="0"/>
              </a:rPr>
              <a:t>Examiner les ressources et le coût avant d'autoriser une modification AWS.</a:t>
            </a:r>
            <a:endParaRPr lang="en-US">
              <a:solidFill>
                <a:srgbClr val="F6F8F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EvidenceSource-14"/>
          <p:cNvSpPr txBox="1"/>
          <p:nvPr/>
        </p:nvSpPr>
        <p:spPr>
          <a:xfrm>
            <a:off x="508000" y="6248399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smtClean="0">
                <a:solidFill>
                  <a:srgbClr val="B7C8DC"/>
                </a:solidFill>
                <a:latin typeface="Segoe UI" panose="020B0502040204020203" pitchFamily="34" charset="0"/>
              </a:rPr>
              <a:t>docs/ORAL_DEFENSE.md • docs/DTO_API.md</a:t>
            </a:r>
            <a:endParaRPr lang="en-US" sz="85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PageNumber-15"/>
          <p:cNvSpPr txBox="1"/>
          <p:nvPr/>
        </p:nvSpPr>
        <p:spPr>
          <a:xfrm>
            <a:off x="11341100" y="6299199"/>
            <a:ext cx="800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smtClean="0">
                <a:solidFill>
                  <a:srgbClr val="B7C8DC"/>
                </a:solidFill>
                <a:latin typeface="Segoe UI" panose="020B0502040204020203" pitchFamily="34" charset="0"/>
              </a:rPr>
              <a:t>26 / 26</a:t>
            </a:r>
            <a:endParaRPr lang="en-US" sz="1000">
              <a:solidFill>
                <a:srgbClr val="B7C8D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374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1967</Words>
  <Application>Microsoft Office PowerPoint</Application>
  <PresentationFormat>Custom</PresentationFormat>
  <Paragraphs>333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Ayyoub</dc:creator>
  <cp:lastModifiedBy>Ayyoub</cp:lastModifiedBy>
  <cp:revision>1</cp:revision>
  <dcterms:created xsi:type="dcterms:W3CDTF">2026-10-31T03:25:15Z</dcterms:created>
  <dcterms:modified xsi:type="dcterms:W3CDTF">2026-10-31T03:25:15Z</dcterms:modified>
</cp:coreProperties>
</file>